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4" r:id="rId13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7559675" cy="10691495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859" cy="5364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282066" y="0"/>
            <a:ext cx="3275859" cy="5364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572389" y="1336437"/>
            <a:ext cx="6414897" cy="36083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55968" y="5145282"/>
            <a:ext cx="6047740" cy="420977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10155065"/>
            <a:ext cx="3275859" cy="5364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282066" y="10155065"/>
            <a:ext cx="3275859" cy="5364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1pPr>
          </a:lstStyle>
          <a:p>
            <a:pPr indent="0" algn="l"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单击以编辑标题文本格式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1pPr>
            <a:lvl2pPr lvl="1" algn="l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3pPr>
            <a:lvl4pPr lvl="3" algn="l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4pPr>
            <a:lvl5pPr lvl="4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5pPr>
            <a:lvl6pPr lvl="5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6pPr>
            <a:lvl7pPr lvl="6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defRPr>
            </a:lvl7pPr>
          </a:lstStyle>
          <a:p>
            <a:pPr marL="431800" indent="-323850" algn="l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点击以编辑提纲文本格式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864235" lvl="1" indent="-323850" algn="l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第二提纲级别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1296035" lvl="2" indent="-288290" algn="l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第三提纲级别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1727835" lvl="3" indent="-215900" algn="l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第四提纲级别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2160270" lvl="4" indent="-215900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2592070" lvl="5" indent="-215900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  <a:p>
            <a:pPr marL="3023870" lvl="6" indent="-215900" algn="l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8.svg"/><Relationship Id="rId15" Type="http://schemas.openxmlformats.org/officeDocument/2006/relationships/image" Target="../media/image17.png"/><Relationship Id="rId14" Type="http://schemas.openxmlformats.org/officeDocument/2006/relationships/image" Target="../media/image16.svg"/><Relationship Id="rId13" Type="http://schemas.openxmlformats.org/officeDocument/2006/relationships/image" Target="../media/image15.png"/><Relationship Id="rId12" Type="http://schemas.openxmlformats.org/officeDocument/2006/relationships/image" Target="../media/image14.svg"/><Relationship Id="rId11" Type="http://schemas.openxmlformats.org/officeDocument/2006/relationships/image" Target="../media/image13.png"/><Relationship Id="rId10" Type="http://schemas.openxmlformats.org/officeDocument/2006/relationships/image" Target="../media/image12.sv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svg"/><Relationship Id="rId7" Type="http://schemas.openxmlformats.org/officeDocument/2006/relationships/image" Target="../media/image25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4.svg"/><Relationship Id="rId15" Type="http://schemas.openxmlformats.org/officeDocument/2006/relationships/image" Target="../media/image33.png"/><Relationship Id="rId14" Type="http://schemas.openxmlformats.org/officeDocument/2006/relationships/image" Target="../media/image32.svg"/><Relationship Id="rId13" Type="http://schemas.openxmlformats.org/officeDocument/2006/relationships/image" Target="../media/image31.png"/><Relationship Id="rId12" Type="http://schemas.openxmlformats.org/officeDocument/2006/relationships/image" Target="../media/image30.svg"/><Relationship Id="rId11" Type="http://schemas.openxmlformats.org/officeDocument/2006/relationships/image" Target="../media/image29.png"/><Relationship Id="rId10" Type="http://schemas.openxmlformats.org/officeDocument/2006/relationships/image" Target="../media/image28.svg"/><Relationship Id="rId1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0.svg"/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48.svg"/><Relationship Id="rId7" Type="http://schemas.openxmlformats.org/officeDocument/2006/relationships/image" Target="../media/image47.png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Relationship Id="rId3" Type="http://schemas.openxmlformats.org/officeDocument/2006/relationships/image" Target="../media/image43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0.svg"/><Relationship Id="rId1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3.svg"/><Relationship Id="rId2" Type="http://schemas.openxmlformats.org/officeDocument/2006/relationships/image" Target="../media/image52.svg"/><Relationship Id="rId1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8.svg"/><Relationship Id="rId1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61.svg"/><Relationship Id="rId7" Type="http://schemas.openxmlformats.org/officeDocument/2006/relationships/image" Target="../media/image60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Relationship Id="rId3" Type="http://schemas.openxmlformats.org/officeDocument/2006/relationships/image" Target="../media/image56.png"/><Relationship Id="rId2" Type="http://schemas.openxmlformats.org/officeDocument/2006/relationships/image" Target="../media/image55.svg"/><Relationship Id="rId1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5.svg"/><Relationship Id="rId3" Type="http://schemas.openxmlformats.org/officeDocument/2006/relationships/image" Target="../media/image64.png"/><Relationship Id="rId2" Type="http://schemas.openxmlformats.org/officeDocument/2006/relationships/image" Target="../media/image63.svg"/><Relationship Id="rId1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60000">
                <a:srgbClr val="3B82F6"/>
              </a:gs>
              <a:gs pos="100000">
                <a:srgbClr val="06B6D4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" name="任意多边形 2"/>
          <p:cNvSpPr/>
          <p:nvPr/>
        </p:nvSpPr>
        <p:spPr>
          <a:xfrm>
            <a:off x="8381880" y="-1143000"/>
            <a:ext cx="4571640" cy="4571640"/>
          </a:xfrm>
          <a:custGeom>
            <a:avLst/>
            <a:gdLst/>
            <a:ahLst/>
            <a:cxnLst/>
            <a:rect l="l" t="t" r="r" b="b"/>
            <a:pathLst>
              <a:path w="480" h="480">
                <a:moveTo>
                  <a:pt x="400" y="419"/>
                </a:moveTo>
                <a:lnTo>
                  <a:pt x="397" y="421"/>
                </a:lnTo>
                <a:lnTo>
                  <a:pt x="393" y="425"/>
                </a:lnTo>
                <a:lnTo>
                  <a:pt x="388" y="429"/>
                </a:lnTo>
                <a:lnTo>
                  <a:pt x="384" y="432"/>
                </a:lnTo>
                <a:lnTo>
                  <a:pt x="379" y="436"/>
                </a:lnTo>
                <a:lnTo>
                  <a:pt x="374" y="439"/>
                </a:lnTo>
                <a:lnTo>
                  <a:pt x="369" y="442"/>
                </a:lnTo>
                <a:lnTo>
                  <a:pt x="364" y="445"/>
                </a:lnTo>
                <a:lnTo>
                  <a:pt x="359" y="448"/>
                </a:lnTo>
                <a:lnTo>
                  <a:pt x="354" y="451"/>
                </a:lnTo>
                <a:lnTo>
                  <a:pt x="349" y="454"/>
                </a:lnTo>
                <a:lnTo>
                  <a:pt x="344" y="456"/>
                </a:lnTo>
                <a:lnTo>
                  <a:pt x="339" y="459"/>
                </a:lnTo>
                <a:lnTo>
                  <a:pt x="333" y="461"/>
                </a:lnTo>
                <a:lnTo>
                  <a:pt x="328" y="463"/>
                </a:lnTo>
                <a:lnTo>
                  <a:pt x="322" y="465"/>
                </a:lnTo>
                <a:lnTo>
                  <a:pt x="317" y="467"/>
                </a:lnTo>
                <a:lnTo>
                  <a:pt x="311" y="469"/>
                </a:lnTo>
                <a:lnTo>
                  <a:pt x="306" y="471"/>
                </a:lnTo>
                <a:lnTo>
                  <a:pt x="300" y="472"/>
                </a:lnTo>
                <a:lnTo>
                  <a:pt x="294" y="474"/>
                </a:lnTo>
                <a:lnTo>
                  <a:pt x="288" y="475"/>
                </a:lnTo>
                <a:lnTo>
                  <a:pt x="282" y="476"/>
                </a:lnTo>
                <a:lnTo>
                  <a:pt x="277" y="477"/>
                </a:lnTo>
                <a:lnTo>
                  <a:pt x="271" y="478"/>
                </a:lnTo>
                <a:lnTo>
                  <a:pt x="265" y="479"/>
                </a:lnTo>
                <a:lnTo>
                  <a:pt x="258" y="479"/>
                </a:lnTo>
                <a:lnTo>
                  <a:pt x="252" y="480"/>
                </a:lnTo>
                <a:lnTo>
                  <a:pt x="246" y="480"/>
                </a:lnTo>
                <a:lnTo>
                  <a:pt x="240" y="480"/>
                </a:lnTo>
                <a:lnTo>
                  <a:pt x="234" y="480"/>
                </a:lnTo>
                <a:lnTo>
                  <a:pt x="228" y="480"/>
                </a:lnTo>
                <a:lnTo>
                  <a:pt x="222" y="479"/>
                </a:lnTo>
                <a:lnTo>
                  <a:pt x="215" y="479"/>
                </a:lnTo>
                <a:lnTo>
                  <a:pt x="209" y="478"/>
                </a:lnTo>
                <a:lnTo>
                  <a:pt x="203" y="477"/>
                </a:lnTo>
                <a:lnTo>
                  <a:pt x="198" y="476"/>
                </a:lnTo>
                <a:lnTo>
                  <a:pt x="192" y="475"/>
                </a:lnTo>
                <a:lnTo>
                  <a:pt x="186" y="474"/>
                </a:lnTo>
                <a:lnTo>
                  <a:pt x="180" y="472"/>
                </a:lnTo>
                <a:lnTo>
                  <a:pt x="174" y="471"/>
                </a:lnTo>
                <a:lnTo>
                  <a:pt x="169" y="469"/>
                </a:lnTo>
                <a:lnTo>
                  <a:pt x="163" y="467"/>
                </a:lnTo>
                <a:lnTo>
                  <a:pt x="158" y="465"/>
                </a:lnTo>
                <a:lnTo>
                  <a:pt x="152" y="463"/>
                </a:lnTo>
                <a:lnTo>
                  <a:pt x="147" y="461"/>
                </a:lnTo>
                <a:lnTo>
                  <a:pt x="141" y="459"/>
                </a:lnTo>
                <a:lnTo>
                  <a:pt x="136" y="456"/>
                </a:lnTo>
                <a:lnTo>
                  <a:pt x="131" y="454"/>
                </a:lnTo>
                <a:lnTo>
                  <a:pt x="126" y="451"/>
                </a:lnTo>
                <a:lnTo>
                  <a:pt x="121" y="448"/>
                </a:lnTo>
                <a:lnTo>
                  <a:pt x="116" y="445"/>
                </a:lnTo>
                <a:lnTo>
                  <a:pt x="111" y="442"/>
                </a:lnTo>
                <a:lnTo>
                  <a:pt x="106" y="439"/>
                </a:lnTo>
                <a:lnTo>
                  <a:pt x="101" y="436"/>
                </a:lnTo>
                <a:lnTo>
                  <a:pt x="96" y="432"/>
                </a:lnTo>
                <a:lnTo>
                  <a:pt x="92" y="429"/>
                </a:lnTo>
                <a:lnTo>
                  <a:pt x="87" y="425"/>
                </a:lnTo>
                <a:lnTo>
                  <a:pt x="83" y="421"/>
                </a:lnTo>
                <a:lnTo>
                  <a:pt x="79" y="418"/>
                </a:lnTo>
                <a:lnTo>
                  <a:pt x="74" y="414"/>
                </a:lnTo>
                <a:lnTo>
                  <a:pt x="70" y="410"/>
                </a:lnTo>
                <a:lnTo>
                  <a:pt x="66" y="406"/>
                </a:lnTo>
                <a:lnTo>
                  <a:pt x="62" y="401"/>
                </a:lnTo>
                <a:lnTo>
                  <a:pt x="59" y="397"/>
                </a:lnTo>
                <a:lnTo>
                  <a:pt x="55" y="393"/>
                </a:lnTo>
                <a:lnTo>
                  <a:pt x="51" y="388"/>
                </a:lnTo>
                <a:lnTo>
                  <a:pt x="48" y="384"/>
                </a:lnTo>
                <a:lnTo>
                  <a:pt x="44" y="379"/>
                </a:lnTo>
                <a:lnTo>
                  <a:pt x="41" y="374"/>
                </a:lnTo>
                <a:lnTo>
                  <a:pt x="38" y="369"/>
                </a:lnTo>
                <a:lnTo>
                  <a:pt x="35" y="364"/>
                </a:lnTo>
                <a:lnTo>
                  <a:pt x="32" y="359"/>
                </a:lnTo>
                <a:lnTo>
                  <a:pt x="29" y="354"/>
                </a:lnTo>
                <a:lnTo>
                  <a:pt x="26" y="349"/>
                </a:lnTo>
                <a:lnTo>
                  <a:pt x="24" y="344"/>
                </a:lnTo>
                <a:lnTo>
                  <a:pt x="21" y="339"/>
                </a:lnTo>
                <a:lnTo>
                  <a:pt x="19" y="333"/>
                </a:lnTo>
                <a:lnTo>
                  <a:pt x="17" y="328"/>
                </a:lnTo>
                <a:lnTo>
                  <a:pt x="15" y="322"/>
                </a:lnTo>
                <a:lnTo>
                  <a:pt x="13" y="317"/>
                </a:lnTo>
                <a:lnTo>
                  <a:pt x="11" y="311"/>
                </a:lnTo>
                <a:lnTo>
                  <a:pt x="9" y="306"/>
                </a:lnTo>
                <a:lnTo>
                  <a:pt x="8" y="300"/>
                </a:lnTo>
                <a:lnTo>
                  <a:pt x="6" y="294"/>
                </a:lnTo>
                <a:lnTo>
                  <a:pt x="5" y="288"/>
                </a:lnTo>
                <a:lnTo>
                  <a:pt x="4" y="282"/>
                </a:lnTo>
                <a:lnTo>
                  <a:pt x="3" y="277"/>
                </a:lnTo>
                <a:lnTo>
                  <a:pt x="2" y="271"/>
                </a:lnTo>
                <a:lnTo>
                  <a:pt x="1" y="265"/>
                </a:lnTo>
                <a:lnTo>
                  <a:pt x="1" y="258"/>
                </a:lnTo>
                <a:lnTo>
                  <a:pt x="0" y="252"/>
                </a:lnTo>
                <a:lnTo>
                  <a:pt x="0" y="246"/>
                </a:lnTo>
                <a:lnTo>
                  <a:pt x="0" y="240"/>
                </a:lnTo>
                <a:lnTo>
                  <a:pt x="0" y="234"/>
                </a:lnTo>
                <a:lnTo>
                  <a:pt x="0" y="228"/>
                </a:lnTo>
                <a:lnTo>
                  <a:pt x="1" y="222"/>
                </a:lnTo>
                <a:lnTo>
                  <a:pt x="1" y="215"/>
                </a:lnTo>
                <a:lnTo>
                  <a:pt x="2" y="209"/>
                </a:lnTo>
                <a:lnTo>
                  <a:pt x="3" y="203"/>
                </a:lnTo>
                <a:lnTo>
                  <a:pt x="4" y="198"/>
                </a:lnTo>
                <a:lnTo>
                  <a:pt x="5" y="192"/>
                </a:lnTo>
                <a:lnTo>
                  <a:pt x="6" y="186"/>
                </a:lnTo>
                <a:lnTo>
                  <a:pt x="8" y="180"/>
                </a:lnTo>
                <a:lnTo>
                  <a:pt x="9" y="174"/>
                </a:lnTo>
                <a:lnTo>
                  <a:pt x="11" y="169"/>
                </a:lnTo>
                <a:lnTo>
                  <a:pt x="13" y="163"/>
                </a:lnTo>
                <a:lnTo>
                  <a:pt x="15" y="158"/>
                </a:lnTo>
                <a:lnTo>
                  <a:pt x="17" y="152"/>
                </a:lnTo>
                <a:lnTo>
                  <a:pt x="19" y="147"/>
                </a:lnTo>
                <a:lnTo>
                  <a:pt x="21" y="141"/>
                </a:lnTo>
                <a:lnTo>
                  <a:pt x="24" y="136"/>
                </a:lnTo>
                <a:lnTo>
                  <a:pt x="26" y="131"/>
                </a:lnTo>
                <a:lnTo>
                  <a:pt x="29" y="126"/>
                </a:lnTo>
                <a:lnTo>
                  <a:pt x="32" y="121"/>
                </a:lnTo>
                <a:lnTo>
                  <a:pt x="32" y="120"/>
                </a:lnTo>
                <a:lnTo>
                  <a:pt x="400" y="12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" name="任意多边形 3"/>
          <p:cNvSpPr/>
          <p:nvPr/>
        </p:nvSpPr>
        <p:spPr>
          <a:xfrm>
            <a:off x="-571680" y="4381560"/>
            <a:ext cx="4000320" cy="4000320"/>
          </a:xfrm>
          <a:custGeom>
            <a:avLst/>
            <a:gdLst/>
            <a:ahLst/>
            <a:cxnLst/>
            <a:rect l="l" t="t" r="r" b="b"/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1" y="88"/>
                </a:lnTo>
                <a:lnTo>
                  <a:pt x="384" y="93"/>
                </a:lnTo>
                <a:lnTo>
                  <a:pt x="387" y="97"/>
                </a:lnTo>
                <a:lnTo>
                  <a:pt x="390" y="101"/>
                </a:lnTo>
                <a:lnTo>
                  <a:pt x="392" y="106"/>
                </a:lnTo>
                <a:lnTo>
                  <a:pt x="395" y="110"/>
                </a:lnTo>
                <a:lnTo>
                  <a:pt x="397" y="114"/>
                </a:lnTo>
                <a:lnTo>
                  <a:pt x="399" y="119"/>
                </a:lnTo>
                <a:lnTo>
                  <a:pt x="401" y="124"/>
                </a:lnTo>
                <a:lnTo>
                  <a:pt x="403" y="128"/>
                </a:lnTo>
                <a:lnTo>
                  <a:pt x="405" y="133"/>
                </a:lnTo>
                <a:lnTo>
                  <a:pt x="407" y="138"/>
                </a:lnTo>
                <a:lnTo>
                  <a:pt x="409" y="143"/>
                </a:lnTo>
                <a:lnTo>
                  <a:pt x="411" y="148"/>
                </a:lnTo>
                <a:lnTo>
                  <a:pt x="412" y="153"/>
                </a:lnTo>
                <a:lnTo>
                  <a:pt x="413" y="158"/>
                </a:lnTo>
                <a:lnTo>
                  <a:pt x="415" y="163"/>
                </a:lnTo>
                <a:lnTo>
                  <a:pt x="416" y="168"/>
                </a:lnTo>
                <a:lnTo>
                  <a:pt x="417" y="173"/>
                </a:lnTo>
                <a:lnTo>
                  <a:pt x="418" y="178"/>
                </a:lnTo>
                <a:lnTo>
                  <a:pt x="418" y="183"/>
                </a:lnTo>
                <a:lnTo>
                  <a:pt x="419" y="189"/>
                </a:lnTo>
                <a:lnTo>
                  <a:pt x="419" y="194"/>
                </a:lnTo>
                <a:lnTo>
                  <a:pt x="420" y="199"/>
                </a:lnTo>
                <a:lnTo>
                  <a:pt x="420" y="205"/>
                </a:lnTo>
                <a:lnTo>
                  <a:pt x="420" y="210"/>
                </a:lnTo>
                <a:lnTo>
                  <a:pt x="420" y="215"/>
                </a:lnTo>
                <a:lnTo>
                  <a:pt x="420" y="221"/>
                </a:lnTo>
                <a:lnTo>
                  <a:pt x="419" y="226"/>
                </a:lnTo>
                <a:lnTo>
                  <a:pt x="419" y="231"/>
                </a:lnTo>
                <a:lnTo>
                  <a:pt x="418" y="237"/>
                </a:lnTo>
                <a:lnTo>
                  <a:pt x="418" y="242"/>
                </a:lnTo>
                <a:lnTo>
                  <a:pt x="417" y="247"/>
                </a:lnTo>
                <a:lnTo>
                  <a:pt x="416" y="252"/>
                </a:lnTo>
                <a:lnTo>
                  <a:pt x="415" y="257"/>
                </a:lnTo>
                <a:lnTo>
                  <a:pt x="414" y="260"/>
                </a:lnTo>
                <a:lnTo>
                  <a:pt x="60" y="260"/>
                </a:lnTo>
                <a:lnTo>
                  <a:pt x="60" y="63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" name="任意多边形 4"/>
          <p:cNvSpPr/>
          <p:nvPr/>
        </p:nvSpPr>
        <p:spPr>
          <a:xfrm>
            <a:off x="10363320" y="1714680"/>
            <a:ext cx="114120" cy="11412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6" name="任意多边形 5"/>
          <p:cNvSpPr/>
          <p:nvPr/>
        </p:nvSpPr>
        <p:spPr>
          <a:xfrm>
            <a:off x="9067680" y="4000680"/>
            <a:ext cx="75960" cy="7596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30960" rIns="90000" bIns="309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762120" y="1838160"/>
            <a:ext cx="418680" cy="418680"/>
          </a:xfrm>
          <a:prstGeom prst="roundRect">
            <a:avLst>
              <a:gd name="adj" fmla="val 27273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8" name="图片 7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160" y="1933560"/>
            <a:ext cx="228240" cy="228240"/>
          </a:xfrm>
          <a:prstGeom prst="rect">
            <a:avLst/>
          </a:prstGeom>
          <a:noFill/>
        </p:spPr>
      </p:pic>
      <p:sp>
        <p:nvSpPr>
          <p:cNvPr id="9" name="矩形 8" descr="{&quot;isTemplate&quot;:true,&quot;type&quot;:&quot;text&quot;}"/>
          <p:cNvSpPr/>
          <p:nvPr/>
        </p:nvSpPr>
        <p:spPr>
          <a:xfrm>
            <a:off x="1295280" y="1933560"/>
            <a:ext cx="5514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GOAI </a:t>
            </a:r>
            <a:r>
              <a:rPr lang="zh-CN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世界人工智能开源大赛 </a:t>
            </a:r>
            <a:r>
              <a:rPr lang="en-US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新智基座 </a:t>
            </a:r>
            <a:r>
              <a:rPr lang="en-US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| Agent Infra </a:t>
            </a:r>
            <a:r>
              <a:rPr lang="zh-CN" sz="1500" b="1" u="none" strike="noStrike" spc="74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赛道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" name="矩形 9" descr="{&quot;isTemplate&quot;:true,&quot;type&quot;:&quot;text&quot;}"/>
          <p:cNvSpPr/>
          <p:nvPr/>
        </p:nvSpPr>
        <p:spPr>
          <a:xfrm>
            <a:off x="762120" y="2638440"/>
            <a:ext cx="10667520" cy="8283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en-US" sz="45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" name="矩形 10" descr="{&quot;isTemplate&quot;:true,&quot;type&quot;:&quot;text&quot;}"/>
          <p:cNvSpPr/>
          <p:nvPr/>
        </p:nvSpPr>
        <p:spPr>
          <a:xfrm>
            <a:off x="762120" y="3543480"/>
            <a:ext cx="10667520" cy="54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中小企业</a:t>
            </a:r>
            <a:r>
              <a:rPr lang="en-US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 </a:t>
            </a:r>
            <a:r>
              <a:rPr lang="zh-CN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服务台多 </a:t>
            </a:r>
            <a:r>
              <a:rPr lang="en-US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2700" b="1" u="none" strike="noStrike">
                <a:solidFill>
                  <a:srgbClr val="FFFFFF">
                    <a:alpha val="9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智能处置系统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762120" y="4352760"/>
            <a:ext cx="114264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3" name="矩形 12" descr="{&quot;isTemplate&quot;:true,&quot;type&quot;:&quot;text&quot;}"/>
          <p:cNvSpPr/>
          <p:nvPr/>
        </p:nvSpPr>
        <p:spPr>
          <a:xfrm>
            <a:off x="762120" y="4619520"/>
            <a:ext cx="10667520" cy="409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60000"/>
              </a:lnSpc>
            </a:pP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基于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AgentTeams · </a:t>
            </a: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面向 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20~500 </a:t>
            </a: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人无专职 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 </a:t>
            </a: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中小企业 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从 </a:t>
            </a:r>
            <a:r>
              <a:rPr lang="en-US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IM </a:t>
            </a:r>
            <a:r>
              <a:rPr lang="zh-CN" sz="1650" b="0" u="none" strike="noStrike" spc="37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群报到智能处置闭环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grpSp>
        <p:nvGrpSpPr>
          <p:cNvPr id="18" name="组合 17"/>
          <p:cNvGrpSpPr/>
          <p:nvPr/>
        </p:nvGrpSpPr>
        <p:grpSpPr>
          <a:xfrm>
            <a:off x="4281805" y="6021070"/>
            <a:ext cx="3628390" cy="189230"/>
            <a:chOff x="12285" y="9780"/>
            <a:chExt cx="5714" cy="298"/>
          </a:xfrm>
        </p:grpSpPr>
        <p:sp>
          <p:nvSpPr>
            <p:cNvPr id="15" name="矩形 14" descr="{&quot;isTemplate&quot;:true,&quot;type&quot;:&quot;text&quot;}"/>
            <p:cNvSpPr/>
            <p:nvPr/>
          </p:nvSpPr>
          <p:spPr>
            <a:xfrm>
              <a:off x="12285" y="9780"/>
              <a:ext cx="1560" cy="29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none" lIns="0" tIns="0" rIns="0" bIns="0" anchor="t">
              <a:noAutofit/>
            </a:bodyPr>
            <a:p>
              <a:pPr algn="l" defTabSz="914400">
                <a:lnSpc>
                  <a:spcPct val="100000"/>
                </a:lnSpc>
              </a:pPr>
              <a:r>
                <a:rPr lang="zh-CN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多</a:t>
              </a:r>
              <a:r>
                <a:rPr lang="en-US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 </a:t>
              </a:r>
              <a:r>
                <a:rPr lang="en-US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Agent </a:t>
              </a:r>
              <a:r>
                <a:rPr lang="zh-CN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协同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 panose="020B0604020202020204"/>
              </a:endParaRPr>
            </a:p>
          </p:txBody>
        </p:sp>
        <p:sp>
          <p:nvSpPr>
            <p:cNvPr id="16" name="矩形 15" descr="{&quot;isTemplate&quot;:true,&quot;type&quot;:&quot;text&quot;}"/>
            <p:cNvSpPr/>
            <p:nvPr/>
          </p:nvSpPr>
          <p:spPr>
            <a:xfrm>
              <a:off x="14205" y="9780"/>
              <a:ext cx="1260" cy="29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none" lIns="0" tIns="0" rIns="0" bIns="0" anchor="t">
              <a:noAutofit/>
            </a:bodyPr>
            <a:p>
              <a:pPr algn="l" defTabSz="9144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Skill </a:t>
              </a:r>
              <a:r>
                <a:rPr lang="zh-CN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工程化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 panose="020B0604020202020204"/>
              </a:endParaRPr>
            </a:p>
          </p:txBody>
        </p:sp>
        <p:sp>
          <p:nvSpPr>
            <p:cNvPr id="17" name="矩形 16" descr="{&quot;isTemplate&quot;:true,&quot;type&quot;:&quot;text&quot;}"/>
            <p:cNvSpPr/>
            <p:nvPr/>
          </p:nvSpPr>
          <p:spPr>
            <a:xfrm>
              <a:off x="15825" y="9780"/>
              <a:ext cx="2174" cy="29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none" lIns="0" tIns="0" rIns="0" bIns="0" anchor="t">
              <a:noAutofit/>
            </a:bodyPr>
            <a:p>
              <a:pPr algn="l" defTabSz="9144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MCP · RAG · </a:t>
              </a:r>
              <a:r>
                <a:rPr lang="zh-CN" sz="1200" b="0" u="none" strike="noStrike">
                  <a:solidFill>
                    <a:srgbClr val="FFFFFF">
                      <a:alpha val="70000"/>
                    </a:srgbClr>
                  </a:solidFill>
                  <a:effectLst/>
                  <a:uFillTx/>
                  <a:latin typeface="微软雅黑" panose="020B0503020204020204" charset="-122"/>
                  <a:ea typeface="微软雅黑" panose="020B0503020204020204" charset="-122"/>
                </a:rPr>
                <a:t>可观测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矩形 21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15" name="图片 21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216" name="矩形 215" descr="{&quot;isTemplate&quot;:true,&quot;type&quot;:&quot;text&quot;}"/>
          <p:cNvSpPr/>
          <p:nvPr/>
        </p:nvSpPr>
        <p:spPr>
          <a:xfrm>
            <a:off x="1238400" y="343080"/>
            <a:ext cx="362880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P0 ·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一页纸速览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17" name="矩形 216" descr="{&quot;isTemplate&quot;:true,&quot;type&quot;:&quot;text&quot;}"/>
          <p:cNvSpPr/>
          <p:nvPr/>
        </p:nvSpPr>
        <p:spPr>
          <a:xfrm>
            <a:off x="1238400" y="809640"/>
            <a:ext cx="362880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作品简介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— 项目名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问题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创新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价值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18" name="矩形 217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02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19" name="圆角矩形 218"/>
          <p:cNvSpPr/>
          <p:nvPr/>
        </p:nvSpPr>
        <p:spPr>
          <a:xfrm>
            <a:off x="609480" y="1143000"/>
            <a:ext cx="3152520" cy="1657080"/>
          </a:xfrm>
          <a:prstGeom prst="roundRect">
            <a:avLst>
              <a:gd name="adj" fmla="val 6897"/>
            </a:avLst>
          </a:prstGeom>
          <a:solidFill>
            <a:srgbClr val="3B82F6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20" name="图片 219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200" y="1324080"/>
            <a:ext cx="190080" cy="190080"/>
          </a:xfrm>
          <a:prstGeom prst="rect">
            <a:avLst/>
          </a:prstGeom>
          <a:noFill/>
        </p:spPr>
      </p:pic>
      <p:sp>
        <p:nvSpPr>
          <p:cNvPr id="221" name="矩形 220" descr="{&quot;isTemplate&quot;:true,&quot;type&quot;:&quot;text&quot;}"/>
          <p:cNvSpPr/>
          <p:nvPr/>
        </p:nvSpPr>
        <p:spPr>
          <a:xfrm>
            <a:off x="1047600" y="1314360"/>
            <a:ext cx="6854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项目名称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22" name="矩形 221" descr="{&quot;isTemplate&quot;:true,&quot;type&quot;:&quot;text&quot;}"/>
          <p:cNvSpPr/>
          <p:nvPr/>
        </p:nvSpPr>
        <p:spPr>
          <a:xfrm>
            <a:off x="781200" y="1600200"/>
            <a:ext cx="2809440" cy="1028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</a:t>
            </a: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：中小企业 </a:t>
            </a:r>
            <a:r>
              <a:rPr lang="en-US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 </a:t>
            </a: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服务台多 </a:t>
            </a:r>
            <a:r>
              <a:rPr lang="en-US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智能处置系统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3914640" y="1143000"/>
            <a:ext cx="3142800" cy="1657080"/>
          </a:xfrm>
          <a:prstGeom prst="roundRect">
            <a:avLst>
              <a:gd name="adj" fmla="val 6897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24" name="图片 223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86360" y="1324080"/>
            <a:ext cx="190080" cy="190080"/>
          </a:xfrm>
          <a:prstGeom prst="rect">
            <a:avLst/>
          </a:prstGeom>
          <a:noFill/>
        </p:spPr>
      </p:pic>
      <p:sp>
        <p:nvSpPr>
          <p:cNvPr id="225" name="矩形 224" descr="{&quot;isTemplate&quot;:true,&quot;type&quot;:&quot;text&quot;}"/>
          <p:cNvSpPr/>
          <p:nvPr/>
        </p:nvSpPr>
        <p:spPr>
          <a:xfrm>
            <a:off x="4352760" y="1314360"/>
            <a:ext cx="6854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目标用户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26" name="矩形 225" descr="{&quot;isTemplate&quot;:true,&quot;type&quot;:&quot;text&quot;}"/>
          <p:cNvSpPr/>
          <p:nvPr/>
        </p:nvSpPr>
        <p:spPr>
          <a:xfrm>
            <a:off x="4086360" y="1600200"/>
            <a:ext cx="28000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20~500 </a:t>
            </a:r>
            <a:r>
              <a:rPr lang="zh-CN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人中小企业，</a:t>
            </a: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1~2 </a:t>
            </a:r>
            <a:r>
              <a:rPr lang="zh-CN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人兼任 </a:t>
            </a: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</a:t>
            </a:r>
            <a:r>
              <a:rPr lang="zh-CN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，靠企业微信</a:t>
            </a: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500" b="0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飞书群报障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27" name="圆角矩形 226"/>
          <p:cNvSpPr/>
          <p:nvPr/>
        </p:nvSpPr>
        <p:spPr>
          <a:xfrm>
            <a:off x="609480" y="2952720"/>
            <a:ext cx="6447960" cy="1266480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28" name="图片 227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200" y="3133800"/>
            <a:ext cx="190080" cy="190080"/>
          </a:xfrm>
          <a:prstGeom prst="rect">
            <a:avLst/>
          </a:prstGeom>
          <a:noFill/>
        </p:spPr>
      </p:pic>
      <p:sp>
        <p:nvSpPr>
          <p:cNvPr id="229" name="矩形 228" descr="{&quot;isTemplate&quot;:true,&quot;type&quot;:&quot;text&quot;}"/>
          <p:cNvSpPr/>
          <p:nvPr/>
        </p:nvSpPr>
        <p:spPr>
          <a:xfrm>
            <a:off x="1047600" y="3124080"/>
            <a:ext cx="85680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问题与场景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0" name="矩形 229" descr="{&quot;isTemplate&quot;:true,&quot;type&quot;:&quot;text&quot;}"/>
          <p:cNvSpPr/>
          <p:nvPr/>
        </p:nvSpPr>
        <p:spPr>
          <a:xfrm>
            <a:off x="781200" y="3409920"/>
            <a:ext cx="610524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权限数据分散在老系统且多无开放接口；专家经验锁在人员记忆中；报障入口只有微信群，无服务台化闭环。账户异常是占比最高的高频场景，先收敛做透。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609480" y="4371840"/>
            <a:ext cx="6447960" cy="1590480"/>
          </a:xfrm>
          <a:prstGeom prst="roundRect">
            <a:avLst>
              <a:gd name="adj" fmla="val 7186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32" name="图片 231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1200" y="4552920"/>
            <a:ext cx="190080" cy="190080"/>
          </a:xfrm>
          <a:prstGeom prst="rect">
            <a:avLst/>
          </a:prstGeom>
          <a:noFill/>
        </p:spPr>
      </p:pic>
      <p:sp>
        <p:nvSpPr>
          <p:cNvPr id="233" name="矩形 232" descr="{&quot;isTemplate&quot;:true,&quot;type&quot;:&quot;text&quot;}"/>
          <p:cNvSpPr/>
          <p:nvPr/>
        </p:nvSpPr>
        <p:spPr>
          <a:xfrm>
            <a:off x="1047600" y="4543560"/>
            <a:ext cx="10285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核心解决方案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4" name="矩形 233" descr="{&quot;isTemplate&quot;:true,&quot;type&quot;:&quot;text&quot;}"/>
          <p:cNvSpPr/>
          <p:nvPr/>
        </p:nvSpPr>
        <p:spPr>
          <a:xfrm>
            <a:off x="781200" y="4829040"/>
            <a:ext cx="6105240" cy="961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基于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AgentTeams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构建「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IM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入口 → 分诊 → 知识检索 → 风险分级 → 低风险自动执行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无接口老系统人工留证 → 验证与回流」最小闭环；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管业务逻辑，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管系统接入，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管专家经验。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5" name="圆角矩形 234"/>
          <p:cNvSpPr/>
          <p:nvPr/>
        </p:nvSpPr>
        <p:spPr>
          <a:xfrm>
            <a:off x="7286760" y="1143000"/>
            <a:ext cx="4295520" cy="2085480"/>
          </a:xfrm>
          <a:prstGeom prst="roundRect">
            <a:avLst>
              <a:gd name="adj" fmla="val 5479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36" name="图片 235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58120" y="1324080"/>
            <a:ext cx="190080" cy="190080"/>
          </a:xfrm>
          <a:prstGeom prst="rect">
            <a:avLst/>
          </a:prstGeom>
          <a:noFill/>
        </p:spPr>
      </p:pic>
      <p:sp>
        <p:nvSpPr>
          <p:cNvPr id="237" name="矩形 236" descr="{&quot;isTemplate&quot;:true,&quot;type&quot;:&quot;text&quot;}"/>
          <p:cNvSpPr/>
          <p:nvPr/>
        </p:nvSpPr>
        <p:spPr>
          <a:xfrm>
            <a:off x="7724880" y="1314360"/>
            <a:ext cx="1199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创新点与差异化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8" name="矩形 237" descr="{&quot;isTemplate&quot;:true,&quot;type&quot;:&quot;text&quot;}"/>
          <p:cNvSpPr/>
          <p:nvPr/>
        </p:nvSpPr>
        <p:spPr>
          <a:xfrm>
            <a:off x="7458120" y="1600200"/>
            <a:ext cx="3952440" cy="1456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以账户异常为主线而非泛 </a:t>
            </a:r>
            <a:r>
              <a:rPr lang="en-US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ITSM</a:t>
            </a:r>
            <a:r>
              <a:rPr lang="zh-CN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，场景聚焦可落地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显式设计「无接口老系统」人工执行留证过渡路径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微信群消息标准化为可审计服务台事件流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L0-L3 </a:t>
            </a:r>
            <a:r>
              <a:rPr lang="zh-CN" sz="128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风险分层：低风险自动、中风险审批、高风险人工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39" name="圆角矩形 238"/>
          <p:cNvSpPr/>
          <p:nvPr/>
        </p:nvSpPr>
        <p:spPr>
          <a:xfrm>
            <a:off x="7286760" y="3381480"/>
            <a:ext cx="4295520" cy="121896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40" name="图片 239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58120" y="3562200"/>
            <a:ext cx="190080" cy="190080"/>
          </a:xfrm>
          <a:prstGeom prst="rect">
            <a:avLst/>
          </a:prstGeom>
          <a:noFill/>
        </p:spPr>
      </p:pic>
      <p:sp>
        <p:nvSpPr>
          <p:cNvPr id="241" name="矩形 240" descr="{&quot;isTemplate&quot;:true,&quot;type&quot;:&quot;text&quot;}"/>
          <p:cNvSpPr/>
          <p:nvPr/>
        </p:nvSpPr>
        <p:spPr>
          <a:xfrm>
            <a:off x="7724880" y="3552840"/>
            <a:ext cx="12189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</a:t>
            </a:r>
            <a:r>
              <a:rPr lang="en-US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复用价值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42" name="矩形 241" descr="{&quot;isTemplate&quot;:true,&quot;type&quot;:&quot;text&quot;}"/>
          <p:cNvSpPr/>
          <p:nvPr/>
        </p:nvSpPr>
        <p:spPr>
          <a:xfrm>
            <a:off x="7458120" y="3838680"/>
            <a:ext cx="3952440" cy="5900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9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个跨场景通用 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+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统一 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契约，可迁移到客服、售后、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HR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、行政等入口型场景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43" name="圆角矩形 242"/>
          <p:cNvSpPr/>
          <p:nvPr/>
        </p:nvSpPr>
        <p:spPr>
          <a:xfrm>
            <a:off x="7286760" y="4753080"/>
            <a:ext cx="4295520" cy="1504440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44" name="图片 243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58120" y="4933800"/>
            <a:ext cx="190080" cy="190080"/>
          </a:xfrm>
          <a:prstGeom prst="rect">
            <a:avLst/>
          </a:prstGeom>
          <a:noFill/>
        </p:spPr>
      </p:pic>
      <p:sp>
        <p:nvSpPr>
          <p:cNvPr id="245" name="矩形 244" descr="{&quot;isTemplate&quot;:true,&quot;type&quot;:&quot;text&quot;}"/>
          <p:cNvSpPr/>
          <p:nvPr/>
        </p:nvSpPr>
        <p:spPr>
          <a:xfrm>
            <a:off x="7724880" y="4924440"/>
            <a:ext cx="6854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当前进展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46" name="矩形 245" descr="{&quot;isTemplate&quot;:true,&quot;type&quot;:&quot;text&quot;}"/>
          <p:cNvSpPr/>
          <p:nvPr/>
        </p:nvSpPr>
        <p:spPr>
          <a:xfrm>
            <a:off x="7458120" y="5210280"/>
            <a:ext cx="3952440" cy="87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V2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赛题格式完整版：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6 Agent Identity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清单、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13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 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完整契约、合规披露完成；下一步 </a:t>
            </a:r>
            <a:r>
              <a:rPr lang="en-US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Demo </a:t>
            </a:r>
            <a:r>
              <a:rPr lang="zh-CN" sz="128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运行证据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47" name="矩形 246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48" name="矩形 247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02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矩形 24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51" name="圆角矩形 250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52" name="图片 25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253" name="矩形 252" descr="{&quot;isTemplate&quot;:true,&quot;type&quot;:&quot;text&quot;}"/>
          <p:cNvSpPr/>
          <p:nvPr/>
        </p:nvSpPr>
        <p:spPr>
          <a:xfrm>
            <a:off x="1238400" y="343080"/>
            <a:ext cx="81864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54" name="矩形 253" descr="{&quot;isTemplate&quot;:true,&quot;type&quot;:&quot;text&quot;}"/>
          <p:cNvSpPr/>
          <p:nvPr/>
        </p:nvSpPr>
        <p:spPr>
          <a:xfrm>
            <a:off x="1238400" y="809640"/>
            <a:ext cx="81864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55" name="矩形 254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03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56" name="圆角矩形 255"/>
          <p:cNvSpPr/>
          <p:nvPr/>
        </p:nvSpPr>
        <p:spPr>
          <a:xfrm>
            <a:off x="609480" y="184788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3B82F6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57" name="矩形 256" descr="{&quot;isTemplate&quot;:true,&quot;type&quot;:&quot;text&quot;}"/>
          <p:cNvSpPr/>
          <p:nvPr/>
        </p:nvSpPr>
        <p:spPr>
          <a:xfrm>
            <a:off x="781200" y="207648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58" name="图片 257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6080" y="2124000"/>
            <a:ext cx="247320" cy="247320"/>
          </a:xfrm>
          <a:prstGeom prst="rect">
            <a:avLst/>
          </a:prstGeom>
          <a:noFill/>
        </p:spPr>
      </p:pic>
      <p:sp>
        <p:nvSpPr>
          <p:cNvPr id="259" name="矩形 258" descr="{&quot;isTemplate&quot;:true,&quot;type&quot;:&quot;text&quot;}"/>
          <p:cNvSpPr/>
          <p:nvPr/>
        </p:nvSpPr>
        <p:spPr>
          <a:xfrm>
            <a:off x="1905120" y="1981080"/>
            <a:ext cx="138060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场景与价值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60" name="矩形 259" descr="{&quot;isTemplate&quot;:true,&quot;type&quot;:&quot;text&quot;}"/>
          <p:cNvSpPr/>
          <p:nvPr/>
        </p:nvSpPr>
        <p:spPr>
          <a:xfrm>
            <a:off x="1905120" y="2333520"/>
            <a:ext cx="13806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价值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可复制性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61" name="圆角矩形 260"/>
          <p:cNvSpPr/>
          <p:nvPr/>
        </p:nvSpPr>
        <p:spPr>
          <a:xfrm>
            <a:off x="609480" y="282888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06B6D4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62" name="矩形 261" descr="{&quot;isTemplate&quot;:true,&quot;type&quot;:&quot;text&quot;}"/>
          <p:cNvSpPr/>
          <p:nvPr/>
        </p:nvSpPr>
        <p:spPr>
          <a:xfrm>
            <a:off x="781200" y="305748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63" name="图片 26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86080" y="3105000"/>
            <a:ext cx="247320" cy="247320"/>
          </a:xfrm>
          <a:prstGeom prst="rect">
            <a:avLst/>
          </a:prstGeom>
          <a:noFill/>
        </p:spPr>
      </p:pic>
      <p:sp>
        <p:nvSpPr>
          <p:cNvPr id="264" name="矩形 263" descr="{&quot;isTemplate&quot;:true,&quot;type&quot;:&quot;text&quot;}"/>
          <p:cNvSpPr/>
          <p:nvPr/>
        </p:nvSpPr>
        <p:spPr>
          <a:xfrm>
            <a:off x="1905120" y="2962440"/>
            <a:ext cx="140940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方案总览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65" name="矩形 264" descr="{&quot;isTemplate&quot;:true,&quot;type&quot;:&quot;text&quot;}"/>
          <p:cNvSpPr/>
          <p:nvPr/>
        </p:nvSpPr>
        <p:spPr>
          <a:xfrm>
            <a:off x="1905120" y="3314880"/>
            <a:ext cx="14094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五层架构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端到端闭环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66" name="圆角矩形 265"/>
          <p:cNvSpPr/>
          <p:nvPr/>
        </p:nvSpPr>
        <p:spPr>
          <a:xfrm>
            <a:off x="609480" y="380988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3B82F6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67" name="矩形 266" descr="{&quot;isTemplate&quot;:true,&quot;type&quot;:&quot;text&quot;}"/>
          <p:cNvSpPr/>
          <p:nvPr/>
        </p:nvSpPr>
        <p:spPr>
          <a:xfrm>
            <a:off x="781200" y="403848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68" name="图片 267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6080" y="4086360"/>
            <a:ext cx="247320" cy="247320"/>
          </a:xfrm>
          <a:prstGeom prst="rect">
            <a:avLst/>
          </a:prstGeom>
          <a:noFill/>
        </p:spPr>
      </p:pic>
      <p:sp>
        <p:nvSpPr>
          <p:cNvPr id="269" name="矩形 268" descr="{&quot;isTemplate&quot;:true,&quot;type&quot;:&quot;text&quot;}"/>
          <p:cNvSpPr/>
          <p:nvPr/>
        </p:nvSpPr>
        <p:spPr>
          <a:xfrm>
            <a:off x="1905120" y="3943440"/>
            <a:ext cx="181908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</a:t>
            </a:r>
            <a:r>
              <a:rPr lang="en-US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协同设计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70" name="矩形 269" descr="{&quot;isTemplate&quot;:true,&quot;type&quot;:&quot;text&quot;}"/>
          <p:cNvSpPr/>
          <p:nvPr/>
        </p:nvSpPr>
        <p:spPr>
          <a:xfrm>
            <a:off x="1905120" y="4295880"/>
            <a:ext cx="181908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角色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任务拆解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上下文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71" name="圆角矩形 270"/>
          <p:cNvSpPr/>
          <p:nvPr/>
        </p:nvSpPr>
        <p:spPr>
          <a:xfrm>
            <a:off x="609480" y="479124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06B6D4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72" name="矩形 271" descr="{&quot;isTemplate&quot;:true,&quot;type&quot;:&quot;text&quot;}"/>
          <p:cNvSpPr/>
          <p:nvPr/>
        </p:nvSpPr>
        <p:spPr>
          <a:xfrm>
            <a:off x="781200" y="501984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73" name="图片 272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6080" y="5067360"/>
            <a:ext cx="247320" cy="247320"/>
          </a:xfrm>
          <a:prstGeom prst="rect">
            <a:avLst/>
          </a:prstGeom>
          <a:noFill/>
        </p:spPr>
      </p:pic>
      <p:sp>
        <p:nvSpPr>
          <p:cNvPr id="274" name="矩形 273" descr="{&quot;isTemplate&quot;:true,&quot;type&quot;:&quot;text&quot;}"/>
          <p:cNvSpPr/>
          <p:nvPr/>
        </p:nvSpPr>
        <p:spPr>
          <a:xfrm>
            <a:off x="1905120" y="4924440"/>
            <a:ext cx="171432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en-US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工程体系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75" name="矩形 274" descr="{&quot;isTemplate&quot;:true,&quot;type&quot;:&quot;text&quot;}"/>
          <p:cNvSpPr/>
          <p:nvPr/>
        </p:nvSpPr>
        <p:spPr>
          <a:xfrm>
            <a:off x="1905120" y="5276880"/>
            <a:ext cx="17143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13 Skill · 9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通用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契约规范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76" name="圆角矩形 275"/>
          <p:cNvSpPr/>
          <p:nvPr/>
        </p:nvSpPr>
        <p:spPr>
          <a:xfrm>
            <a:off x="6286680" y="174312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3B82F6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77" name="矩形 276" descr="{&quot;isTemplate&quot;:true,&quot;type&quot;:&quot;text&quot;}"/>
          <p:cNvSpPr/>
          <p:nvPr/>
        </p:nvSpPr>
        <p:spPr>
          <a:xfrm>
            <a:off x="6458040" y="197172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78" name="图片 277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162920" y="2019240"/>
            <a:ext cx="247320" cy="247320"/>
          </a:xfrm>
          <a:prstGeom prst="rect">
            <a:avLst/>
          </a:prstGeom>
          <a:noFill/>
        </p:spPr>
      </p:pic>
      <p:sp>
        <p:nvSpPr>
          <p:cNvPr id="279" name="矩形 278" descr="{&quot;isTemplate&quot;:true,&quot;type&quot;:&quot;text&quot;}"/>
          <p:cNvSpPr/>
          <p:nvPr/>
        </p:nvSpPr>
        <p:spPr>
          <a:xfrm>
            <a:off x="7581960" y="1876320"/>
            <a:ext cx="209520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工程落地与安全可审计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80" name="矩形 279" descr="{&quot;isTemplate&quot;:true,&quot;type&quot;:&quot;text&quot;}"/>
          <p:cNvSpPr/>
          <p:nvPr/>
        </p:nvSpPr>
        <p:spPr>
          <a:xfrm>
            <a:off x="7581960" y="2228760"/>
            <a:ext cx="209520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闭环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证据链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L0-L3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81" name="圆角矩形 280"/>
          <p:cNvSpPr/>
          <p:nvPr/>
        </p:nvSpPr>
        <p:spPr>
          <a:xfrm>
            <a:off x="6286680" y="272412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06B6D4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82" name="矩形 281" descr="{&quot;isTemplate&quot;:true,&quot;type&quot;:&quot;text&quot;}"/>
          <p:cNvSpPr/>
          <p:nvPr/>
        </p:nvSpPr>
        <p:spPr>
          <a:xfrm>
            <a:off x="6458040" y="295272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83" name="图片 282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162920" y="3000240"/>
            <a:ext cx="247320" cy="247320"/>
          </a:xfrm>
          <a:prstGeom prst="rect">
            <a:avLst/>
          </a:prstGeom>
          <a:noFill/>
        </p:spPr>
      </p:pic>
      <p:sp>
        <p:nvSpPr>
          <p:cNvPr id="284" name="矩形 283" descr="{&quot;isTemplate&quot;:true,&quot;type&quot;:&quot;text&quot;}"/>
          <p:cNvSpPr/>
          <p:nvPr/>
        </p:nvSpPr>
        <p:spPr>
          <a:xfrm>
            <a:off x="7581960" y="2857680"/>
            <a:ext cx="148572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</a:t>
            </a:r>
            <a:r>
              <a:rPr lang="en-US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开源计划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85" name="矩形 284" descr="{&quot;isTemplate&quot;:true,&quot;type&quot;:&quot;text&quot;}"/>
          <p:cNvSpPr/>
          <p:nvPr/>
        </p:nvSpPr>
        <p:spPr>
          <a:xfrm>
            <a:off x="7581960" y="3209760"/>
            <a:ext cx="14857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可复用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·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协议合规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86" name="圆角矩形 285"/>
          <p:cNvSpPr/>
          <p:nvPr/>
        </p:nvSpPr>
        <p:spPr>
          <a:xfrm>
            <a:off x="6286680" y="3705120"/>
            <a:ext cx="5295600" cy="790200"/>
          </a:xfrm>
          <a:prstGeom prst="roundRect">
            <a:avLst>
              <a:gd name="adj" fmla="val 14458"/>
            </a:avLst>
          </a:prstGeom>
          <a:solidFill>
            <a:srgbClr val="3B82F6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87" name="矩形 286" descr="{&quot;isTemplate&quot;:true,&quot;type&quot;:&quot;text&quot;}"/>
          <p:cNvSpPr/>
          <p:nvPr/>
        </p:nvSpPr>
        <p:spPr>
          <a:xfrm>
            <a:off x="6458040" y="3933720"/>
            <a:ext cx="5331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22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pic>
        <p:nvPicPr>
          <p:cNvPr id="288" name="图片 287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162920" y="3981600"/>
            <a:ext cx="247320" cy="247320"/>
          </a:xfrm>
          <a:prstGeom prst="rect">
            <a:avLst/>
          </a:prstGeom>
          <a:noFill/>
        </p:spPr>
      </p:pic>
      <p:sp>
        <p:nvSpPr>
          <p:cNvPr id="289" name="矩形 288" descr="{&quot;isTemplate&quot;:true,&quot;type&quot;:&quot;text&quot;}"/>
          <p:cNvSpPr/>
          <p:nvPr/>
        </p:nvSpPr>
        <p:spPr>
          <a:xfrm>
            <a:off x="7581960" y="3838680"/>
            <a:ext cx="152352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30000"/>
              </a:lnSpc>
            </a:pPr>
            <a:r>
              <a:rPr lang="zh-CN" sz="16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落地计划与进展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90" name="矩形 289" descr="{&quot;isTemplate&quot;:true,&quot;type&quot;:&quot;text&quot;}"/>
          <p:cNvSpPr/>
          <p:nvPr/>
        </p:nvSpPr>
        <p:spPr>
          <a:xfrm>
            <a:off x="7581960" y="4191120"/>
            <a:ext cx="15235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V2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现状 </a:t>
            </a:r>
            <a:r>
              <a:rPr lang="en-US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V3/V4 </a:t>
            </a:r>
            <a:r>
              <a:rPr lang="zh-CN" sz="113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路线图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91" name="圆角矩形 290"/>
          <p:cNvSpPr/>
          <p:nvPr/>
        </p:nvSpPr>
        <p:spPr>
          <a:xfrm>
            <a:off x="6286680" y="4781520"/>
            <a:ext cx="5295600" cy="914040"/>
          </a:xfrm>
          <a:prstGeom prst="roundRect">
            <a:avLst>
              <a:gd name="adj" fmla="val 12500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92" name="矩形 291" descr="{&quot;isTemplate&quot;:true,&quot;type&quot;:&quot;text&quot;}"/>
          <p:cNvSpPr/>
          <p:nvPr/>
        </p:nvSpPr>
        <p:spPr>
          <a:xfrm>
            <a:off x="6458040" y="4933800"/>
            <a:ext cx="4952520" cy="294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4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章节对应赛题评审维度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93" name="矩形 292" descr="{&quot;isTemplate&quot;:true,&quot;type&quot;:&quot;text&quot;}"/>
          <p:cNvSpPr/>
          <p:nvPr/>
        </p:nvSpPr>
        <p:spPr>
          <a:xfrm>
            <a:off x="6458040" y="5286240"/>
            <a:ext cx="495252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</a:t>
            </a:r>
            <a:r>
              <a:rPr lang="en-US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 · </a:t>
            </a:r>
            <a:r>
              <a:rPr lang="zh-CN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 </a:t>
            </a:r>
            <a:r>
              <a:rPr lang="en-US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 · Skill 25% · </a:t>
            </a:r>
            <a:r>
              <a:rPr lang="zh-CN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 </a:t>
            </a:r>
            <a:r>
              <a:rPr lang="en-US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20% · </a:t>
            </a:r>
            <a:r>
              <a:rPr lang="zh-CN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 </a:t>
            </a:r>
            <a:r>
              <a:rPr lang="en-US" sz="113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5%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94" name="矩形 293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95" name="矩形 294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03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矩形 29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98" name="任意多边形 297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99" name="任意多边形 298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00" name="圆角矩形 299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01" name="图片 30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302" name="矩形 301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第一章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3" name="矩形 302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场景与价值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4" name="矩形 303" descr="{&quot;isTemplate&quot;:true,&quot;type&quot;:&quot;text&quot;}"/>
          <p:cNvSpPr/>
          <p:nvPr/>
        </p:nvSpPr>
        <p:spPr>
          <a:xfrm>
            <a:off x="762120" y="3371760"/>
            <a:ext cx="181908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5" name="矩形 304" descr="{&quot;isTemplate&quot;:true,&quot;type&quot;:&quot;text&quot;}"/>
          <p:cNvSpPr/>
          <p:nvPr/>
        </p:nvSpPr>
        <p:spPr>
          <a:xfrm>
            <a:off x="2695680" y="3371760"/>
            <a:ext cx="251424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场景价值与行业可复制性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6" name="圆角矩形 305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07" name="矩形 306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目标用户与核心痛点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真实场景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可量化价值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行业可复制性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差异化优势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8" name="矩形 307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04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矩形 30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11" name="圆角矩形 310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12" name="图片 31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313" name="矩形 312" descr="{&quot;isTemplate&quot;:true,&quot;type&quot;:&quot;text&quot;}"/>
          <p:cNvSpPr/>
          <p:nvPr/>
        </p:nvSpPr>
        <p:spPr>
          <a:xfrm>
            <a:off x="1238400" y="343080"/>
            <a:ext cx="504792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场景与价值：中小企业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服务台之困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14" name="矩形 313" descr="{&quot;isTemplate&quot;:true,&quot;type&quot;:&quot;text&quot;}"/>
          <p:cNvSpPr/>
          <p:nvPr/>
        </p:nvSpPr>
        <p:spPr>
          <a:xfrm>
            <a:off x="1238400" y="809640"/>
            <a:ext cx="504792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第一章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场景与价值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15" name="矩形 314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05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16" name="圆角矩形 315"/>
          <p:cNvSpPr/>
          <p:nvPr/>
        </p:nvSpPr>
        <p:spPr>
          <a:xfrm>
            <a:off x="609480" y="1143000"/>
            <a:ext cx="7162560" cy="5171760"/>
          </a:xfrm>
          <a:prstGeom prst="roundRect">
            <a:avLst>
              <a:gd name="adj" fmla="val 2210"/>
            </a:avLst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17" name="图片 316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880" y="1238400"/>
            <a:ext cx="6972120" cy="4981320"/>
          </a:xfrm>
          <a:prstGeom prst="rect">
            <a:avLst/>
          </a:prstGeom>
          <a:noFill/>
        </p:spPr>
      </p:pic>
      <p:sp>
        <p:nvSpPr>
          <p:cNvPr id="318" name="圆角矩形 317"/>
          <p:cNvSpPr/>
          <p:nvPr/>
        </p:nvSpPr>
        <p:spPr>
          <a:xfrm>
            <a:off x="8001000" y="1143000"/>
            <a:ext cx="3580920" cy="980640"/>
          </a:xfrm>
          <a:prstGeom prst="roundRect">
            <a:avLst>
              <a:gd name="adj" fmla="val 9709"/>
            </a:avLst>
          </a:prstGeom>
          <a:solidFill>
            <a:srgbClr val="3B82F6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19" name="矩形 318" descr="{&quot;isTemplate&quot;:true,&quot;type&quot;:&quot;text&quot;}"/>
          <p:cNvSpPr/>
          <p:nvPr/>
        </p:nvSpPr>
        <p:spPr>
          <a:xfrm>
            <a:off x="8115480" y="1257480"/>
            <a:ext cx="33523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目标用户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0" name="矩形 319" descr="{&quot;isTemplate&quot;:true,&quot;type&quot;:&quot;text&quot;}"/>
          <p:cNvSpPr/>
          <p:nvPr/>
        </p:nvSpPr>
        <p:spPr>
          <a:xfrm>
            <a:off x="8115480" y="1495440"/>
            <a:ext cx="3352320" cy="514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50000"/>
              </a:lnSpc>
            </a:pP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20~500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人中小企业，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1~2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人兼任 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，以企业微信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飞书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钉钉群为主要报障入口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1" name="圆角矩形 320"/>
          <p:cNvSpPr/>
          <p:nvPr/>
        </p:nvSpPr>
        <p:spPr>
          <a:xfrm>
            <a:off x="8001000" y="2219400"/>
            <a:ext cx="3580920" cy="980640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22" name="矩形 321" descr="{&quot;isTemplate&quot;:true,&quot;type&quot;:&quot;text&quot;}"/>
          <p:cNvSpPr/>
          <p:nvPr/>
        </p:nvSpPr>
        <p:spPr>
          <a:xfrm>
            <a:off x="8115480" y="2333520"/>
            <a:ext cx="33523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核心场景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3" name="矩形 322" descr="{&quot;isTemplate&quot;:true,&quot;type&quot;:&quot;text&quot;}"/>
          <p:cNvSpPr/>
          <p:nvPr/>
        </p:nvSpPr>
        <p:spPr>
          <a:xfrm>
            <a:off x="8115480" y="2571840"/>
            <a:ext cx="3352320" cy="514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50000"/>
              </a:lnSpc>
            </a:pP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账户与访问异常：账号锁定、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MFA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丢失、密码错误、异地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新设备登录、疑似盗号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4" name="圆角矩形 323"/>
          <p:cNvSpPr/>
          <p:nvPr/>
        </p:nvSpPr>
        <p:spPr>
          <a:xfrm>
            <a:off x="8001000" y="3295800"/>
            <a:ext cx="3580920" cy="1238040"/>
          </a:xfrm>
          <a:prstGeom prst="roundRect">
            <a:avLst>
              <a:gd name="adj" fmla="val 7692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25" name="矩形 324" descr="{&quot;isTemplate&quot;:true,&quot;type&quot;:&quot;text&quot;}"/>
          <p:cNvSpPr/>
          <p:nvPr/>
        </p:nvSpPr>
        <p:spPr>
          <a:xfrm>
            <a:off x="8115480" y="3409920"/>
            <a:ext cx="33523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业务价值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6" name="矩形 325" descr="{&quot;isTemplate&quot;:true,&quot;type&quot;:&quot;text&quot;}"/>
          <p:cNvSpPr/>
          <p:nvPr/>
        </p:nvSpPr>
        <p:spPr>
          <a:xfrm>
            <a:off x="8115480" y="3648240"/>
            <a:ext cx="33523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7x24 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自动接管常见账户异常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0000"/>
              </a:lnSpc>
            </a:pP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拦截高频重复请求，释放兼职 </a:t>
            </a: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0000"/>
              </a:lnSpc>
            </a:pP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从</a:t>
            </a: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个人救火</a:t>
            </a: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走向</a:t>
            </a: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可追溯、可复盘体系</a:t>
            </a:r>
            <a:r>
              <a:rPr lang="en-US" sz="113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7" name="圆角矩形 326"/>
          <p:cNvSpPr/>
          <p:nvPr/>
        </p:nvSpPr>
        <p:spPr>
          <a:xfrm>
            <a:off x="8001000" y="4629240"/>
            <a:ext cx="3580920" cy="980640"/>
          </a:xfrm>
          <a:prstGeom prst="roundRect">
            <a:avLst>
              <a:gd name="adj" fmla="val 9709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28" name="矩形 327" descr="{&quot;isTemplate&quot;:true,&quot;type&quot;:&quot;text&quot;}"/>
          <p:cNvSpPr/>
          <p:nvPr/>
        </p:nvSpPr>
        <p:spPr>
          <a:xfrm>
            <a:off x="8115480" y="4743360"/>
            <a:ext cx="335232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行业可复制性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29" name="矩形 328" descr="{&quot;isTemplate&quot;:true,&quot;type&quot;:&quot;text&quot;}"/>
          <p:cNvSpPr/>
          <p:nvPr/>
        </p:nvSpPr>
        <p:spPr>
          <a:xfrm>
            <a:off x="8115480" y="4981680"/>
            <a:ext cx="3352320" cy="514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50000"/>
              </a:lnSpc>
            </a:pP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账户异常是种子场景；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9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个通用 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+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统一 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契约可复制到客服、售后、</a:t>
            </a:r>
            <a:r>
              <a:rPr lang="en-US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HR</a:t>
            </a:r>
            <a:r>
              <a:rPr lang="zh-CN" sz="11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、行政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30" name="矩形 329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31" name="矩形 330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05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矩形 33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34" name="任意多边形 333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35" name="任意多边形 334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36" name="圆角矩形 335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37" name="图片 336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338" name="矩形 337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第二章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39" name="矩形 338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方案总览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40" name="矩形 339" descr="{&quot;isTemplate&quot;:true,&quot;type&quot;:&quot;text&quot;}"/>
          <p:cNvSpPr/>
          <p:nvPr/>
        </p:nvSpPr>
        <p:spPr>
          <a:xfrm>
            <a:off x="762120" y="3371760"/>
            <a:ext cx="181908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41" name="矩形 340" descr="{&quot;isTemplate&quot;:true,&quot;type&quot;:&quot;text&quot;}"/>
          <p:cNvSpPr/>
          <p:nvPr/>
        </p:nvSpPr>
        <p:spPr>
          <a:xfrm>
            <a:off x="2695680" y="3371760"/>
            <a:ext cx="312372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协同与自主闭环能力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42" name="圆角矩形 341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43" name="矩形 342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整体架构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端到端主流程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关键技术选型必要性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44" name="矩形 343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06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矩形 34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47" name="圆角矩形 346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48" name="图片 347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349" name="矩形 348" descr="{&quot;isTemplate&quot;:true,&quot;type&quot;:&quot;text&quot;}"/>
          <p:cNvSpPr/>
          <p:nvPr/>
        </p:nvSpPr>
        <p:spPr>
          <a:xfrm>
            <a:off x="1238400" y="343080"/>
            <a:ext cx="457164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方案总览：五层架构与端到端闭环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0" name="矩形 349" descr="{&quot;isTemplate&quot;:true,&quot;type&quot;:&quot;text&quot;}"/>
          <p:cNvSpPr/>
          <p:nvPr/>
        </p:nvSpPr>
        <p:spPr>
          <a:xfrm>
            <a:off x="1238400" y="809640"/>
            <a:ext cx="457164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第二章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方案总览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1" name="矩形 350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07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2" name="圆角矩形 351"/>
          <p:cNvSpPr/>
          <p:nvPr/>
        </p:nvSpPr>
        <p:spPr>
          <a:xfrm>
            <a:off x="609480" y="114300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1E3A8A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53" name="圆角矩形 352"/>
          <p:cNvSpPr/>
          <p:nvPr/>
        </p:nvSpPr>
        <p:spPr>
          <a:xfrm>
            <a:off x="800280" y="123840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FFFFFF">
              <a:alpha val="1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54" name="矩形 353" descr="{&quot;isTemplate&quot;:true,&quot;type&quot;:&quot;text&quot;}"/>
          <p:cNvSpPr/>
          <p:nvPr/>
        </p:nvSpPr>
        <p:spPr>
          <a:xfrm>
            <a:off x="1076400" y="1324080"/>
            <a:ext cx="6854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用户入口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5" name="矩形 354" descr="{&quot;isTemplate&quot;:true,&quot;type&quot;:&quot;text&quot;}"/>
          <p:cNvSpPr/>
          <p:nvPr/>
        </p:nvSpPr>
        <p:spPr>
          <a:xfrm>
            <a:off x="2190600" y="1257480"/>
            <a:ext cx="458100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企业微信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飞书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钉钉群 ——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IM </a:t>
            </a: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群消息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截图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报障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6" name="圆角矩形 355"/>
          <p:cNvSpPr/>
          <p:nvPr/>
        </p:nvSpPr>
        <p:spPr>
          <a:xfrm>
            <a:off x="609480" y="180972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800280" y="190512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1E3A8A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58" name="矩形 357" descr="{&quot;isTemplate&quot;:true,&quot;type&quot;:&quot;text&quot;}"/>
          <p:cNvSpPr/>
          <p:nvPr/>
        </p:nvSpPr>
        <p:spPr>
          <a:xfrm>
            <a:off x="1162080" y="1990800"/>
            <a:ext cx="5140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底座层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59" name="矩形 358" descr="{&quot;isTemplate&quot;:true,&quot;type&quot;:&quot;text&quot;}"/>
          <p:cNvSpPr/>
          <p:nvPr/>
        </p:nvSpPr>
        <p:spPr>
          <a:xfrm>
            <a:off x="2190600" y="1924200"/>
            <a:ext cx="810540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AgentTeams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（角色编排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任务拆解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上下文传递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状态追踪）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Matrix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通信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Higress AI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网关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60" name="圆角矩形 359"/>
          <p:cNvSpPr/>
          <p:nvPr/>
        </p:nvSpPr>
        <p:spPr>
          <a:xfrm>
            <a:off x="609480" y="247644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61" name="圆角矩形 360"/>
          <p:cNvSpPr/>
          <p:nvPr/>
        </p:nvSpPr>
        <p:spPr>
          <a:xfrm>
            <a:off x="800280" y="257184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62" name="矩形 361" descr="{&quot;isTemplate&quot;:true,&quot;type&quot;:&quot;text&quot;}"/>
          <p:cNvSpPr/>
          <p:nvPr/>
        </p:nvSpPr>
        <p:spPr>
          <a:xfrm>
            <a:off x="1162080" y="2657520"/>
            <a:ext cx="5140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编排层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63" name="矩形 362" descr="{&quot;isTemplate&quot;:true,&quot;type&quot;:&quot;text&quot;}"/>
          <p:cNvSpPr/>
          <p:nvPr/>
        </p:nvSpPr>
        <p:spPr>
          <a:xfrm>
            <a:off x="2190600" y="2590920"/>
            <a:ext cx="71337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TeamLeader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：任务拆解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角色编排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状态流转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升级策略（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AgentTeams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协同基点）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64" name="圆角矩形 363"/>
          <p:cNvSpPr/>
          <p:nvPr/>
        </p:nvSpPr>
        <p:spPr>
          <a:xfrm>
            <a:off x="609480" y="314316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800280" y="323856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66" name="矩形 365" descr="{&quot;isTemplate&quot;:true,&quot;type&quot;:&quot;text&quot;}"/>
          <p:cNvSpPr/>
          <p:nvPr/>
        </p:nvSpPr>
        <p:spPr>
          <a:xfrm>
            <a:off x="1162080" y="3324240"/>
            <a:ext cx="5140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接入层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67" name="矩形 366" descr="{&quot;isTemplate&quot;:true,&quot;type&quot;:&quot;text&quot;}"/>
          <p:cNvSpPr/>
          <p:nvPr/>
        </p:nvSpPr>
        <p:spPr>
          <a:xfrm>
            <a:off x="2190600" y="3257640"/>
            <a:ext cx="843876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统一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MCP / Adapter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：有接口系统直连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无接口老系统走人工执行留证（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Runbook +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截图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回填）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68" name="圆角矩形 367"/>
          <p:cNvSpPr/>
          <p:nvPr/>
        </p:nvSpPr>
        <p:spPr>
          <a:xfrm>
            <a:off x="609480" y="380988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69" name="圆角矩形 368"/>
          <p:cNvSpPr/>
          <p:nvPr/>
        </p:nvSpPr>
        <p:spPr>
          <a:xfrm>
            <a:off x="800280" y="390528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70" name="矩形 369" descr="{&quot;isTemplate&quot;:true,&quot;type&quot;:&quot;text&quot;}"/>
          <p:cNvSpPr/>
          <p:nvPr/>
        </p:nvSpPr>
        <p:spPr>
          <a:xfrm>
            <a:off x="1162080" y="3990960"/>
            <a:ext cx="5140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能力层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71" name="矩形 370" descr="{&quot;isTemplate&quot;:true,&quot;type&quot;:&quot;text&quot;}"/>
          <p:cNvSpPr/>
          <p:nvPr/>
        </p:nvSpPr>
        <p:spPr>
          <a:xfrm>
            <a:off x="2181240" y="3924360"/>
            <a:ext cx="921024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官方用云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Skills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（身份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通知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文件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搜索）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自定义服务台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Skills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（分类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风险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处置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验证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回流）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72" name="圆角矩形 371"/>
          <p:cNvSpPr/>
          <p:nvPr/>
        </p:nvSpPr>
        <p:spPr>
          <a:xfrm>
            <a:off x="609480" y="4476600"/>
            <a:ext cx="10972440" cy="571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800280" y="4572000"/>
            <a:ext cx="1238040" cy="3805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74" name="矩形 373" descr="{&quot;isTemplate&quot;:true,&quot;type&quot;:&quot;text&quot;}"/>
          <p:cNvSpPr/>
          <p:nvPr/>
        </p:nvSpPr>
        <p:spPr>
          <a:xfrm>
            <a:off x="1162080" y="4657680"/>
            <a:ext cx="5140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数据层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75" name="矩形 374" descr="{&quot;isTemplate&quot;:true,&quot;type&quot;:&quot;text&quot;}"/>
          <p:cNvSpPr/>
          <p:nvPr/>
        </p:nvSpPr>
        <p:spPr>
          <a:xfrm>
            <a:off x="2190600" y="4591080"/>
            <a:ext cx="561924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专家经验库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RocketMQ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异步状态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PolarDB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向量 </a:t>
            </a:r>
            <a:r>
              <a:rPr lang="en-US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500" b="0" u="none" strike="noStrike">
                <a:solidFill>
                  <a:srgbClr val="374151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审计存储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76" name="圆角矩形 375"/>
          <p:cNvSpPr/>
          <p:nvPr/>
        </p:nvSpPr>
        <p:spPr>
          <a:xfrm>
            <a:off x="609480" y="5143680"/>
            <a:ext cx="3580920" cy="10472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77" name="图片 376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60" y="5267160"/>
            <a:ext cx="190080" cy="190080"/>
          </a:xfrm>
          <a:prstGeom prst="rect">
            <a:avLst/>
          </a:prstGeom>
          <a:noFill/>
        </p:spPr>
      </p:pic>
      <p:sp>
        <p:nvSpPr>
          <p:cNvPr id="378" name="矩形 377" descr="{&quot;isTemplate&quot;:true,&quot;type&quot;:&quot;text&quot;}"/>
          <p:cNvSpPr/>
          <p:nvPr/>
        </p:nvSpPr>
        <p:spPr>
          <a:xfrm>
            <a:off x="990720" y="5257800"/>
            <a:ext cx="85680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端到端闭环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79" name="矩形 378" descr="{&quot;isTemplate&quot;:true,&quot;type&quot;:&quot;text&quot;}"/>
          <p:cNvSpPr/>
          <p:nvPr/>
        </p:nvSpPr>
        <p:spPr>
          <a:xfrm>
            <a:off x="723960" y="5524560"/>
            <a:ext cx="3352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IM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入口 → 分诊 → 知识检索 → 风险分级 → 执行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人工 → 验证 → 经验回流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0" name="圆角矩形 379"/>
          <p:cNvSpPr/>
          <p:nvPr/>
        </p:nvSpPr>
        <p:spPr>
          <a:xfrm>
            <a:off x="4305240" y="5143680"/>
            <a:ext cx="3580920" cy="10472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81" name="图片 380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19720" y="5267160"/>
            <a:ext cx="190080" cy="190080"/>
          </a:xfrm>
          <a:prstGeom prst="rect">
            <a:avLst/>
          </a:prstGeom>
          <a:noFill/>
        </p:spPr>
      </p:pic>
      <p:sp>
        <p:nvSpPr>
          <p:cNvPr id="382" name="矩形 381" descr="{&quot;isTemplate&quot;:true,&quot;type&quot;:&quot;text&quot;}"/>
          <p:cNvSpPr/>
          <p:nvPr/>
        </p:nvSpPr>
        <p:spPr>
          <a:xfrm>
            <a:off x="4686480" y="5257800"/>
            <a:ext cx="10285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异常分支处理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3" name="矩形 382" descr="{&quot;isTemplate&quot;:true,&quot;type&quot;:&quot;text&quot;}"/>
          <p:cNvSpPr/>
          <p:nvPr/>
        </p:nvSpPr>
        <p:spPr>
          <a:xfrm>
            <a:off x="4419720" y="5524560"/>
            <a:ext cx="3352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信息不足补件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老系统切人工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工具异常切备用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失败回滚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升级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高风险必审批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8001000" y="5143680"/>
            <a:ext cx="3580920" cy="1047240"/>
          </a:xfrm>
          <a:prstGeom prst="roundRect">
            <a:avLst>
              <a:gd name="adj" fmla="val 10909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85" name="图片 384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15480" y="5267160"/>
            <a:ext cx="190080" cy="190080"/>
          </a:xfrm>
          <a:prstGeom prst="rect">
            <a:avLst/>
          </a:prstGeom>
          <a:noFill/>
        </p:spPr>
      </p:pic>
      <p:sp>
        <p:nvSpPr>
          <p:cNvPr id="386" name="矩形 385" descr="{&quot;isTemplate&quot;:true,&quot;type&quot;:&quot;text&quot;}"/>
          <p:cNvSpPr/>
          <p:nvPr/>
        </p:nvSpPr>
        <p:spPr>
          <a:xfrm>
            <a:off x="8381880" y="5257800"/>
            <a:ext cx="10285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安全与可审计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7" name="矩形 386" descr="{&quot;isTemplate&quot;:true,&quot;type&quot;:&quot;text&quot;}"/>
          <p:cNvSpPr/>
          <p:nvPr/>
        </p:nvSpPr>
        <p:spPr>
          <a:xfrm>
            <a:off x="8115480" y="5524560"/>
            <a:ext cx="3352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L0-L3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动作分级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全链路证据留痕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可回放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脱敏归档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审计接口开放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8" name="矩形 387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89" name="矩形 388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07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矩形 390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92" name="任意多边形 391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93" name="任意多边形 392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94" name="圆角矩形 393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395" name="图片 39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396" name="矩形 395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第三章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97" name="矩形 396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</a:t>
            </a: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协同设计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98" name="矩形 397" descr="{&quot;isTemplate&quot;:true,&quot;type&quot;:&quot;text&quot;}"/>
          <p:cNvSpPr/>
          <p:nvPr/>
        </p:nvSpPr>
        <p:spPr>
          <a:xfrm>
            <a:off x="762120" y="3371760"/>
            <a:ext cx="181908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99" name="矩形 398" descr="{&quot;isTemplate&quot;:true,&quot;type&quot;:&quot;text&quot;}"/>
          <p:cNvSpPr/>
          <p:nvPr/>
        </p:nvSpPr>
        <p:spPr>
          <a:xfrm>
            <a:off x="2695680" y="3371760"/>
            <a:ext cx="312372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协同与自主闭环能力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00" name="圆角矩形 399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01" name="矩形 400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分工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任务拆解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上下文传递与状态流转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异常与冲突处理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安全边界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02" name="矩形 401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08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03" name=""/>
        <p:cNvGrpSpPr/>
        <p:nvPr/>
      </p:nvGrpSpPr>
      <p:grpSpPr>
        <a:xfrm rot="0">
          <a:off x="-9223372036854775808" y="-9223372036854775808"/>
          <a:ext cx="0" cy="0"/>
          <a:chOff x="0" y="0"/>
          <a:chExt cx="12191760" cy="6857640"/>
        </a:xfrm>
      </p:grpSpPr>
      <p:sp>
        <p:nvSpPr>
          <p:cNvPr id="404" name="矩形 403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05" name="圆角矩形 404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406" name="图片 405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407" name="矩形 406" descr="{&quot;isTemplate&quot;:true,&quot;type&quot;:&quot;text&quot;}"/>
          <p:cNvSpPr/>
          <p:nvPr/>
        </p:nvSpPr>
        <p:spPr>
          <a:xfrm>
            <a:off x="1238400" y="343080"/>
            <a:ext cx="475272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协同：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角色端到端闭环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08" name="矩形 407" descr="{&quot;isTemplate&quot;:true,&quot;type&quot;:&quot;text&quot;}"/>
          <p:cNvSpPr/>
          <p:nvPr/>
        </p:nvSpPr>
        <p:spPr>
          <a:xfrm>
            <a:off x="1238400" y="809640"/>
            <a:ext cx="475272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第三章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多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协同设计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09" name="矩形 408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09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0" name="圆角矩形 409"/>
          <p:cNvSpPr/>
          <p:nvPr/>
        </p:nvSpPr>
        <p:spPr>
          <a:xfrm>
            <a:off x="7991640" y="114300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11" name="矩形 410" descr="{&quot;isTemplate&quot;:true,&quot;type&quot;:&quot;text&quot;}"/>
          <p:cNvSpPr/>
          <p:nvPr/>
        </p:nvSpPr>
        <p:spPr>
          <a:xfrm>
            <a:off x="8124840" y="127620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分工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2" name="矩形 411" descr="{&quot;isTemplate&quot;:true,&quot;type&quot;:&quot;text&quot;}"/>
          <p:cNvSpPr/>
          <p:nvPr/>
        </p:nvSpPr>
        <p:spPr>
          <a:xfrm>
            <a:off x="8124840" y="154296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个不同职能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，满足赛题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至少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3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个不同职能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Agent"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要求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3" name="圆角矩形 412"/>
          <p:cNvSpPr/>
          <p:nvPr/>
        </p:nvSpPr>
        <p:spPr>
          <a:xfrm>
            <a:off x="7991640" y="236232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14" name="矩形 413" descr="{&quot;isTemplate&quot;:true,&quot;type&quot;:&quot;text&quot;}"/>
          <p:cNvSpPr/>
          <p:nvPr/>
        </p:nvSpPr>
        <p:spPr>
          <a:xfrm>
            <a:off x="8124840" y="249552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上下文传递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5" name="矩形 414" descr="{&quot;isTemplate&quot;:true,&quot;type&quot;:&quot;text&quot;}"/>
          <p:cNvSpPr/>
          <p:nvPr/>
        </p:nvSpPr>
        <p:spPr>
          <a:xfrm>
            <a:off x="8124840" y="276228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工单状态、证据引用、用户环境、历史记录统一共享，避免各自为战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6" name="圆角矩形 415"/>
          <p:cNvSpPr/>
          <p:nvPr/>
        </p:nvSpPr>
        <p:spPr>
          <a:xfrm>
            <a:off x="7991640" y="3581280"/>
            <a:ext cx="3590640" cy="1104480"/>
          </a:xfrm>
          <a:prstGeom prst="roundRect">
            <a:avLst>
              <a:gd name="adj" fmla="val 10345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17" name="矩形 416" descr="{&quot;isTemplate&quot;:true,&quot;type&quot;:&quot;text&quot;}"/>
          <p:cNvSpPr/>
          <p:nvPr/>
        </p:nvSpPr>
        <p:spPr>
          <a:xfrm>
            <a:off x="8124840" y="371484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安全边界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8" name="矩形 417" descr="{&quot;isTemplate&quot;:true,&quot;type&quot;:&quot;text&quot;}"/>
          <p:cNvSpPr/>
          <p:nvPr/>
        </p:nvSpPr>
        <p:spPr>
          <a:xfrm>
            <a:off x="8124840" y="398160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L0/L1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自动（可回放）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L2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L3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人工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用户可随时中断转人工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19" name="圆角矩形 418"/>
          <p:cNvSpPr/>
          <p:nvPr/>
        </p:nvSpPr>
        <p:spPr>
          <a:xfrm>
            <a:off x="7991640" y="480060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20" name="矩形 419" descr="{&quot;isTemplate&quot;:true,&quot;type&quot;:&quot;text&quot;}"/>
          <p:cNvSpPr/>
          <p:nvPr/>
        </p:nvSpPr>
        <p:spPr>
          <a:xfrm>
            <a:off x="8124840" y="493380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7x24 </a:t>
            </a:r>
            <a:r>
              <a:rPr lang="zh-CN" sz="135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21" name="矩形 420" descr="{&quot;isTemplate&quot;:true,&quot;type&quot;:&quot;text&quot;}"/>
          <p:cNvSpPr/>
          <p:nvPr/>
        </p:nvSpPr>
        <p:spPr>
          <a:xfrm>
            <a:off x="8124840" y="520056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夜间自动接管常见账户异常，从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等人醒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到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秒级响应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22" name="矩形 421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23" name="矩形 422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09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424" name="矩形 423"/>
          <p:cNvSpPr/>
          <p:nvPr/>
        </p:nvSpPr>
        <p:spPr>
          <a:xfrm>
            <a:off x="609600" y="1143000"/>
            <a:ext cx="71882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/>
          <a:p>
            <a:pPr marL="0" indent="0" eaLnBrk="1" fontAlgn="auto" latinLnBrk="0" hangingPunct="1">
              <a:spcAft>
                <a:spcPts val="600"/>
              </a:spcAft>
            </a:pPr>
            <a:r>
              <a:rPr lang="zh-CN" sz="20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TeamLeader 总控 · 任务拆解与编排</a:t>
            </a:r>
            <a:endParaRPr lang="zh-CN" sz="20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8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接收工单 → 拆解任务 → 分派职能 Agent → 汇总结果 → 升级决策</a:t>
            </a:r>
            <a:endParaRPr lang="zh-CN" sz="18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5" name="矩形 424"/>
          <p:cNvSpPr/>
          <p:nvPr/>
        </p:nvSpPr>
        <p:spPr>
          <a:xfrm>
            <a:off x="609600" y="2286000"/>
            <a:ext cx="2260600" cy="939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Ticket Intake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消息标准化 · 去重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6" name="矩形 425"/>
          <p:cNvSpPr/>
          <p:nvPr/>
        </p:nvSpPr>
        <p:spPr>
          <a:xfrm>
            <a:off x="3022600" y="2286000"/>
            <a:ext cx="2260600" cy="939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Knowledge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 Runbook / RAG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7" name="矩形 426"/>
          <p:cNvSpPr/>
          <p:nvPr/>
        </p:nvSpPr>
        <p:spPr>
          <a:xfrm>
            <a:off x="5435600" y="2286000"/>
            <a:ext cx="2260600" cy="939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Triage Analyst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风险分级 L0-L3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8" name="矩形 427"/>
          <p:cNvSpPr/>
          <p:nvPr/>
        </p:nvSpPr>
        <p:spPr>
          <a:xfrm>
            <a:off x="609600" y="4546600"/>
            <a:ext cx="7188200" cy="711200"/>
          </a:xfrm>
          <a:prstGeom prst="rect">
            <a:avLst/>
          </a:prstGeom>
          <a:solidFill>
            <a:srgbClr val="FFF7E6"/>
          </a:solidFill>
          <a:ln w="25400">
            <a:solidFill>
              <a:srgbClr val="F59E0B"/>
            </a:solidFill>
            <a:prstDash val="solid"/>
          </a:ln>
        </p:spPr>
        <p:txBody>
          <a:bodyPr/>
          <a:p>
            <a:r>
              <a:rPr lang="zh-CN" sz="1600">
                <a:solidFill>
                  <a:srgbClr val="92400E"/>
                </a:solidFill>
                <a:latin typeface="微软雅黑" panose="020B0503020204020204" charset="-122"/>
                <a:ea typeface="微软雅黑" panose="020B0503020204020204" charset="-122"/>
              </a:rPr>
              <a:t>结果回收：各 Agent 执行结果回传 TeamLeader</a:t>
            </a:r>
            <a:endParaRPr lang="zh-CN" sz="1600">
              <a:solidFill>
                <a:srgbClr val="92400E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600">
                <a:solidFill>
                  <a:srgbClr val="92400E"/>
                </a:solidFill>
                <a:latin typeface="微软雅黑" panose="020B0503020204020204" charset="-122"/>
                <a:ea typeface="微软雅黑" panose="020B0503020204020204" charset="-122"/>
              </a:rPr>
              <a:t>统一状态流转 · 决定升级 · 经验回流 RAG</a:t>
            </a:r>
            <a:endParaRPr lang="zh-CN" sz="1600">
              <a:solidFill>
                <a:srgbClr val="92400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9" name="矩形 428"/>
          <p:cNvSpPr/>
          <p:nvPr/>
        </p:nvSpPr>
        <p:spPr>
          <a:xfrm>
            <a:off x="609600" y="5410200"/>
            <a:ext cx="7188200" cy="71120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p>
            <a:r>
              <a:rPr lang="zh-CN" sz="1600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</a:rPr>
              <a:t>上下文共享：工单状态 · 证据引用 · 用户环境</a:t>
            </a:r>
            <a:endParaRPr lang="zh-CN" sz="1600">
              <a:solidFill>
                <a:srgbClr val="1E3A8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600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</a:rPr>
              <a:t>异常分支：补件 / Legacy 人工 / 工具切换 / 回滚升级</a:t>
            </a:r>
            <a:endParaRPr lang="zh-CN" sz="1600">
              <a:solidFill>
                <a:srgbClr val="1E3A8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0" name="矩形 429"/>
          <p:cNvSpPr/>
          <p:nvPr/>
        </p:nvSpPr>
        <p:spPr>
          <a:xfrm>
            <a:off x="1803400" y="3403600"/>
            <a:ext cx="2260600" cy="939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Resolution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执行 / 审批 / 人工指引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1" name="矩形 430"/>
          <p:cNvSpPr/>
          <p:nvPr/>
        </p:nvSpPr>
        <p:spPr>
          <a:xfrm>
            <a:off x="4229100" y="3403600"/>
            <a:ext cx="2260600" cy="939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⑤ Verify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7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恢复验证 · 复盘回流</a:t>
            </a:r>
            <a:endParaRPr lang="zh-CN" sz="17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2" name="直接连接符 431"/>
          <p:cNvSpPr/>
          <p:nvPr/>
        </p:nvSpPr>
        <p:spPr>
          <a:xfrm>
            <a:off x="1739900" y="2057400"/>
            <a:ext cx="0" cy="2032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33" name="直接连接符 432"/>
          <p:cNvSpPr/>
          <p:nvPr/>
        </p:nvSpPr>
        <p:spPr>
          <a:xfrm>
            <a:off x="4152900" y="2057400"/>
            <a:ext cx="0" cy="2032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34" name="直接连接符 433"/>
          <p:cNvSpPr/>
          <p:nvPr/>
        </p:nvSpPr>
        <p:spPr>
          <a:xfrm>
            <a:off x="6565900" y="2057400"/>
            <a:ext cx="0" cy="2032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35" name="直接连接符 434"/>
          <p:cNvSpPr/>
          <p:nvPr/>
        </p:nvSpPr>
        <p:spPr>
          <a:xfrm>
            <a:off x="2946400" y="2057400"/>
            <a:ext cx="0" cy="13208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36" name="直接连接符 435"/>
          <p:cNvSpPr/>
          <p:nvPr/>
        </p:nvSpPr>
        <p:spPr>
          <a:xfrm>
            <a:off x="5359400" y="2057400"/>
            <a:ext cx="0" cy="132080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1" name="任意多边形 20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23" name="图片 2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24" name="矩形 23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第四章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5" name="矩形 24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工程体系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6" name="矩形 25" descr="{&quot;isTemplate&quot;:true,&quot;type&quot;:&quot;text&quot;}"/>
          <p:cNvSpPr/>
          <p:nvPr/>
        </p:nvSpPr>
        <p:spPr>
          <a:xfrm>
            <a:off x="762120" y="3371760"/>
            <a:ext cx="181908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25%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7" name="矩形 26" descr="{&quot;isTemplate&quot;:true,&quot;type&quot;:&quot;text&quot;}"/>
          <p:cNvSpPr/>
          <p:nvPr/>
        </p:nvSpPr>
        <p:spPr>
          <a:xfrm>
            <a:off x="2695680" y="3371760"/>
            <a:ext cx="260964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工程体系与生态复用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9" name="矩形 28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清单与任务覆盖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单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规格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复用性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生命周期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官方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Skills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30" name="矩形 29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10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58" name="图片 5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</p:spPr>
      </p:pic>
      <p:sp>
        <p:nvSpPr>
          <p:cNvPr id="35" name="矩形 34"/>
          <p:cNvSpPr>
            <a:spLocks noGrp="1"/>
          </p:cNvSpPr>
          <p:nvPr/>
        </p:nvSpPr>
        <p:spPr>
          <a:xfrm>
            <a:off x="1238400" y="343080"/>
            <a:ext cx="47620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20000"/>
              </a:lnSpc>
              <a:buNone/>
            </a:pPr>
            <a:r>
              <a:rPr sz="2400" b="1" u="non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 工程体系：13 个 Skill 契约与生态复用</a:t>
            </a:r>
            <a:endParaRPr sz="24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238400" y="809640"/>
            <a:ext cx="476208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200" b="0" u="none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第四章 · Skill 工程体系（本赛题必选项）· 精细化</a:t>
            </a:r>
            <a:endParaRPr sz="12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050" b="0" u="none">
                <a:solidFill>
                  <a:srgbClr val="9CA3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/ 26</a:t>
            </a:r>
            <a:endParaRPr sz="10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" name="圆角矩形 37"/>
          <p:cNvSpPr>
            <a:spLocks noGrp="1"/>
          </p:cNvSpPr>
          <p:nvPr/>
        </p:nvSpPr>
        <p:spPr>
          <a:xfrm>
            <a:off x="609480" y="1143000"/>
            <a:ext cx="7191000" cy="5181120"/>
          </a:xfrm>
          <a:prstGeom prst="roundRect">
            <a:avLst>
              <a:gd name="adj" fmla="val 2206"/>
            </a:avLst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3" name="图片 6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219320"/>
            <a:ext cx="7038720" cy="5028840"/>
          </a:xfrm>
          <a:prstGeom prst="rect">
            <a:avLst/>
          </a:prstGeom>
        </p:spPr>
      </p:pic>
      <p:sp>
        <p:nvSpPr>
          <p:cNvPr id="40" name="圆角矩形 39"/>
          <p:cNvSpPr>
            <a:spLocks noGrp="1"/>
          </p:cNvSpPr>
          <p:nvPr/>
        </p:nvSpPr>
        <p:spPr>
          <a:xfrm>
            <a:off x="7991640" y="114300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124840" y="127620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350" b="1" u="non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个 Skill = 9 通用 + 4 专属</a:t>
            </a:r>
            <a:endParaRPr sz="13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124840" y="154296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2141"/>
          </a:bodyPr>
          <a:lstStyle/>
          <a:p>
            <a:pPr defTabSz="914400">
              <a:lnSpc>
                <a:spcPct val="155000"/>
              </a:lnSpc>
              <a:buNone/>
            </a:pPr>
            <a:r>
              <a:rPr sz="1200" b="0" u="none">
                <a:solidFill>
                  <a:srgbClr val="4B55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 通用跨场景复用；4 账户专属（解锁 / MFA / 改密 / 盗号），换场景只换这 4 个——全量清单见左图底部</a:t>
            </a:r>
            <a:endParaRPr sz="12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7991640" y="2362320"/>
            <a:ext cx="3590640" cy="139032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8124840" y="249552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350" b="1" u="non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 Skill 9 要素契约（赛题要求）</a:t>
            </a:r>
            <a:endParaRPr sz="13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124840" y="2762280"/>
            <a:ext cx="3323880" cy="856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6541"/>
          </a:bodyPr>
          <a:lstStyle/>
          <a:p>
            <a:pPr defTabSz="914400">
              <a:lnSpc>
                <a:spcPct val="155000"/>
              </a:lnSpc>
              <a:buNone/>
            </a:pPr>
            <a:r>
              <a:rPr sz="1200" b="0" u="none">
                <a:solidFill>
                  <a:srgbClr val="4B55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名称 / 用途 / 输入输出 / 调用条件 / 依赖 / 失败处理 / 安全边界 / 复用 / 协同——左图对 4 个核心 Skill 逐项说明；质量按成功率 / 首解率评估</a:t>
            </a:r>
            <a:endParaRPr sz="12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7991640" y="3867120"/>
            <a:ext cx="3590640" cy="1104480"/>
          </a:xfrm>
          <a:prstGeom prst="roundRect">
            <a:avLst>
              <a:gd name="adj" fmla="val 10345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8124840" y="400068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350" b="1" u="non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工程化与生命周期</a:t>
            </a:r>
            <a:endParaRPr sz="13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8124840" y="426708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86284"/>
          </a:bodyPr>
          <a:lstStyle/>
          <a:p>
            <a:pPr defTabSz="914400">
              <a:lnSpc>
                <a:spcPct val="155000"/>
              </a:lnSpc>
              <a:buNone/>
            </a:pPr>
            <a:r>
              <a:rPr sz="1200" b="0" u="none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无状态 · 可版本化（Git）；Nacos 发布 / 回滚；质量评估：成功率 / 首解率 / 升级率 / Badcase 率</a:t>
            </a:r>
            <a:endParaRPr sz="12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7991640" y="508644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buNone/>
            </a:pPr>
            <a:endParaRPr sz="1800" b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8124840" y="521964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350" b="1" u="none">
                <a:solidFill>
                  <a:srgbClr val="0891B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官方用云 Skills + 协同</a:t>
            </a:r>
            <a:endParaRPr sz="13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124840" y="548640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79641"/>
          </a:bodyPr>
          <a:lstStyle/>
          <a:p>
            <a:pPr defTabSz="914400">
              <a:lnSpc>
                <a:spcPct val="155000"/>
              </a:lnSpc>
              <a:buNone/>
            </a:pPr>
            <a:r>
              <a:rPr sz="1200" b="0" u="none">
                <a:solidFill>
                  <a:srgbClr val="4B55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身份 / 通知 / 审批 / 文件 / 搜索：云通用、网关统一鉴权；13 个 Skill ↔ 6 个 Agent 绑定</a:t>
            </a:r>
            <a:endParaRPr sz="120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050" b="0" u="none">
                <a:solidFill>
                  <a:srgbClr val="9CA3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ServiceDesk Pilot · GOAI Agent Infra </a:t>
            </a:r>
            <a:r>
              <a:rPr sz="1050" b="0" u="none">
                <a:solidFill>
                  <a:srgbClr val="9CA3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初赛</a:t>
            </a:r>
            <a:endParaRPr sz="10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buNone/>
            </a:pPr>
            <a:r>
              <a:rPr sz="1050" b="0" u="none">
                <a:solidFill>
                  <a:srgbClr val="9CA3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/ 26</a:t>
            </a:r>
            <a:endParaRPr sz="1050" b="0" u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6" name="任意多边形 55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7" name="任意多边形 56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59" name="图片 58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60" name="矩形 59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第五章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61" name="矩形 60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工程落地、运行验证与安全可审计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62" name="矩形 61" descr="{&quot;isTemplate&quot;:true,&quot;type&quot;:&quot;text&quot;}"/>
          <p:cNvSpPr/>
          <p:nvPr/>
        </p:nvSpPr>
        <p:spPr>
          <a:xfrm>
            <a:off x="762120" y="3371760"/>
            <a:ext cx="181908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20%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63" name="矩形 62" descr="{&quot;isTemplate&quot;:true,&quot;type&quot;:&quot;text&quot;}"/>
          <p:cNvSpPr/>
          <p:nvPr/>
        </p:nvSpPr>
        <p:spPr>
          <a:xfrm>
            <a:off x="2695680" y="3371760"/>
            <a:ext cx="342864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工程落地、运行验证与安全可审计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65" name="矩形 64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可运行性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运行证据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可观测与检索链路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安全治理机制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云产品选型边界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66" name="矩形 65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12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矩形 67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69" name="圆角矩形 68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70" name="图片 6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71" name="矩形 70" descr="{&quot;isTemplate&quot;:true,&quot;type&quot;:&quot;text&quot;}"/>
          <p:cNvSpPr/>
          <p:nvPr/>
        </p:nvSpPr>
        <p:spPr>
          <a:xfrm>
            <a:off x="1238400" y="343080"/>
            <a:ext cx="582912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工程落地：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闭环、证据链与安全治理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2" name="矩形 71" descr="{&quot;isTemplate&quot;:true,&quot;type&quot;:&quot;text&quot;}"/>
          <p:cNvSpPr/>
          <p:nvPr/>
        </p:nvSpPr>
        <p:spPr>
          <a:xfrm>
            <a:off x="1238400" y="809640"/>
            <a:ext cx="582912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第五章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工程落地、运行验证与安全可审计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3" name="矩形 72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13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4" name="圆角矩形 73"/>
          <p:cNvSpPr/>
          <p:nvPr/>
        </p:nvSpPr>
        <p:spPr>
          <a:xfrm>
            <a:off x="609480" y="114300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75" name="圆角矩形 74"/>
          <p:cNvSpPr/>
          <p:nvPr/>
        </p:nvSpPr>
        <p:spPr>
          <a:xfrm>
            <a:off x="762120" y="121932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1E3A8A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76" name="矩形 75" descr="{&quot;isTemplate&quot;:true,&quot;type&quot;:&quot;text&quot;}"/>
          <p:cNvSpPr/>
          <p:nvPr/>
        </p:nvSpPr>
        <p:spPr>
          <a:xfrm>
            <a:off x="905040" y="131436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7" name="矩形 76" descr="{&quot;isTemplate&quot;:true,&quot;type&quot;:&quot;text&quot;}"/>
          <p:cNvSpPr/>
          <p:nvPr/>
        </p:nvSpPr>
        <p:spPr>
          <a:xfrm>
            <a:off x="1276200" y="130500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8" name="矩形 77" descr="{&quot;isTemplate&quot;:true,&quot;type&quot;:&quot;text&quot;}"/>
          <p:cNvSpPr/>
          <p:nvPr/>
        </p:nvSpPr>
        <p:spPr>
          <a:xfrm>
            <a:off x="2438280" y="1305000"/>
            <a:ext cx="1514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样例输入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事件触发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609480" y="177156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762120" y="184788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3B82F6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81" name="矩形 80" descr="{&quot;isTemplate&quot;:true,&quot;type&quot;:&quot;text&quot;}"/>
          <p:cNvSpPr/>
          <p:nvPr/>
        </p:nvSpPr>
        <p:spPr>
          <a:xfrm>
            <a:off x="905040" y="194328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2" name="矩形 81" descr="{&quot;isTemplate&quot;:true,&quot;type&quot;:&quot;text&quot;}"/>
          <p:cNvSpPr/>
          <p:nvPr/>
        </p:nvSpPr>
        <p:spPr>
          <a:xfrm>
            <a:off x="1276200" y="193356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分诊分类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3" name="矩形 82" descr="{&quot;isTemplate&quot;:true,&quot;type&quot;:&quot;text&quot;}"/>
          <p:cNvSpPr/>
          <p:nvPr/>
        </p:nvSpPr>
        <p:spPr>
          <a:xfrm>
            <a:off x="2438280" y="1933560"/>
            <a:ext cx="1856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事件标准化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紧急度判断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4" name="圆角矩形 83"/>
          <p:cNvSpPr/>
          <p:nvPr/>
        </p:nvSpPr>
        <p:spPr>
          <a:xfrm>
            <a:off x="609480" y="240048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85" name="圆角矩形 84"/>
          <p:cNvSpPr/>
          <p:nvPr/>
        </p:nvSpPr>
        <p:spPr>
          <a:xfrm>
            <a:off x="762120" y="247644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06B6D4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86" name="矩形 85" descr="{&quot;isTemplate&quot;:true,&quot;type&quot;:&quot;text&quot;}"/>
          <p:cNvSpPr/>
          <p:nvPr/>
        </p:nvSpPr>
        <p:spPr>
          <a:xfrm>
            <a:off x="905040" y="257184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7" name="矩形 86" descr="{&quot;isTemplate&quot;:true,&quot;type&quot;:&quot;text&quot;}"/>
          <p:cNvSpPr/>
          <p:nvPr/>
        </p:nvSpPr>
        <p:spPr>
          <a:xfrm>
            <a:off x="1276200" y="256212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检索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8" name="矩形 87" descr="{&quot;isTemplate&quot;:true,&quot;type&quot;:&quot;text&quot;}"/>
          <p:cNvSpPr/>
          <p:nvPr/>
        </p:nvSpPr>
        <p:spPr>
          <a:xfrm>
            <a:off x="2438280" y="2562120"/>
            <a:ext cx="19713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知识命中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Runbook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检索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89" name="圆角矩形 88"/>
          <p:cNvSpPr/>
          <p:nvPr/>
        </p:nvSpPr>
        <p:spPr>
          <a:xfrm>
            <a:off x="609480" y="302904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90" name="圆角矩形 89"/>
          <p:cNvSpPr/>
          <p:nvPr/>
        </p:nvSpPr>
        <p:spPr>
          <a:xfrm>
            <a:off x="762120" y="310500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91" name="矩形 90" descr="{&quot;isTemplate&quot;:true,&quot;type&quot;:&quot;text&quot;}"/>
          <p:cNvSpPr/>
          <p:nvPr/>
        </p:nvSpPr>
        <p:spPr>
          <a:xfrm>
            <a:off x="905040" y="320040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2" name="矩形 91" descr="{&quot;isTemplate&quot;:true,&quot;type&quot;:&quot;text&quot;}"/>
          <p:cNvSpPr/>
          <p:nvPr/>
        </p:nvSpPr>
        <p:spPr>
          <a:xfrm>
            <a:off x="1276200" y="319104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处置执行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3" name="矩形 92" descr="{&quot;isTemplate&quot;:true,&quot;type&quot;:&quot;text&quot;}"/>
          <p:cNvSpPr/>
          <p:nvPr/>
        </p:nvSpPr>
        <p:spPr>
          <a:xfrm>
            <a:off x="2438280" y="3191040"/>
            <a:ext cx="2066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自动执行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人工指引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609480" y="365760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95" name="圆角矩形 94"/>
          <p:cNvSpPr/>
          <p:nvPr/>
        </p:nvSpPr>
        <p:spPr>
          <a:xfrm>
            <a:off x="762120" y="373392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8B5CF6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96" name="矩形 95" descr="{&quot;isTemplate&quot;:true,&quot;type&quot;:&quot;text&quot;}"/>
          <p:cNvSpPr/>
          <p:nvPr/>
        </p:nvSpPr>
        <p:spPr>
          <a:xfrm>
            <a:off x="905040" y="382896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7" name="矩形 96" descr="{&quot;isTemplate&quot;:true,&quot;type&quot;:&quot;text&quot;}"/>
          <p:cNvSpPr/>
          <p:nvPr/>
        </p:nvSpPr>
        <p:spPr>
          <a:xfrm>
            <a:off x="1276200" y="381960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验证恢复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8" name="矩形 97" descr="{&quot;isTemplate&quot;:true,&quot;type&quot;:&quot;text&quot;}"/>
          <p:cNvSpPr/>
          <p:nvPr/>
        </p:nvSpPr>
        <p:spPr>
          <a:xfrm>
            <a:off x="2438280" y="3819600"/>
            <a:ext cx="1695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Verify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闭环 </a:t>
            </a: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结果确认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99" name="圆角矩形 98"/>
          <p:cNvSpPr/>
          <p:nvPr/>
        </p:nvSpPr>
        <p:spPr>
          <a:xfrm>
            <a:off x="609480" y="4286160"/>
            <a:ext cx="7191000" cy="55224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762120" y="4362480"/>
            <a:ext cx="399600" cy="399600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01" name="矩形 100" descr="{&quot;isTemplate&quot;:true,&quot;type&quot;:&quot;text&quot;}"/>
          <p:cNvSpPr/>
          <p:nvPr/>
        </p:nvSpPr>
        <p:spPr>
          <a:xfrm>
            <a:off x="905040" y="4457880"/>
            <a:ext cx="11412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2" name="矩形 101" descr="{&quot;isTemplate&quot;:true,&quot;type&quot;:&quot;text&quot;}"/>
          <p:cNvSpPr/>
          <p:nvPr/>
        </p:nvSpPr>
        <p:spPr>
          <a:xfrm>
            <a:off x="1276200" y="4448160"/>
            <a:ext cx="104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经验回流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3" name="矩形 102" descr="{&quot;isTemplate&quot;:true,&quot;type&quot;:&quot;text&quot;}"/>
          <p:cNvSpPr/>
          <p:nvPr/>
        </p:nvSpPr>
        <p:spPr>
          <a:xfrm>
            <a:off x="2438280" y="4448160"/>
            <a:ext cx="199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RAG · Badcase · </a:t>
            </a:r>
            <a:r>
              <a:rPr lang="zh-CN" sz="135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知识更新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4" name="圆角矩形 103"/>
          <p:cNvSpPr/>
          <p:nvPr/>
        </p:nvSpPr>
        <p:spPr>
          <a:xfrm>
            <a:off x="609480" y="4933800"/>
            <a:ext cx="7191000" cy="704520"/>
          </a:xfrm>
          <a:prstGeom prst="roundRect">
            <a:avLst>
              <a:gd name="adj" fmla="val 13514"/>
            </a:avLst>
          </a:prstGeom>
          <a:solidFill>
            <a:srgbClr val="3B82F6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05" name="矩形 104" descr="{&quot;isTemplate&quot;:true,&quot;type&quot;:&quot;text&quot;}"/>
          <p:cNvSpPr/>
          <p:nvPr/>
        </p:nvSpPr>
        <p:spPr>
          <a:xfrm>
            <a:off x="762120" y="5029200"/>
            <a:ext cx="688608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全链路证据沉淀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6" name="矩形 105" descr="{&quot;isTemplate&quot;:true,&quot;type&quot;:&quot;text&quot;}"/>
          <p:cNvSpPr/>
          <p:nvPr/>
        </p:nvSpPr>
        <p:spPr>
          <a:xfrm>
            <a:off x="762120" y="5267160"/>
            <a:ext cx="6886080" cy="275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Incident State · Agent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调用链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Tool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输入输出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LLM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决策摘要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RAG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检索结果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验证结论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证据引用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609480" y="5715000"/>
            <a:ext cx="7191000" cy="704520"/>
          </a:xfrm>
          <a:prstGeom prst="roundRect">
            <a:avLst>
              <a:gd name="adj" fmla="val 13514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08" name="矩形 107" descr="{&quot;isTemplate&quot;:true,&quot;type&quot;:&quot;text&quot;}"/>
          <p:cNvSpPr/>
          <p:nvPr/>
        </p:nvSpPr>
        <p:spPr>
          <a:xfrm>
            <a:off x="762120" y="5810400"/>
            <a:ext cx="6886080" cy="199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8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可观测：</a:t>
            </a:r>
            <a:r>
              <a:rPr lang="en-US" sz="128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AgentLoop / LoongSuite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09" name="矩形 108" descr="{&quot;isTemplate&quot;:true,&quot;type&quot;:&quot;text&quot;}"/>
          <p:cNvSpPr/>
          <p:nvPr/>
        </p:nvSpPr>
        <p:spPr>
          <a:xfrm>
            <a:off x="762120" y="6048360"/>
            <a:ext cx="6886080" cy="275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Trace · Log · Metrics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：时延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Token 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成功率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首次解决率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升级率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Badcase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率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0" name="圆角矩形 109"/>
          <p:cNvSpPr/>
          <p:nvPr/>
        </p:nvSpPr>
        <p:spPr>
          <a:xfrm>
            <a:off x="7991640" y="1143000"/>
            <a:ext cx="3590640" cy="1047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11" name="矩形 110" descr="{&quot;isTemplate&quot;:true,&quot;type&quot;:&quot;text&quot;}"/>
          <p:cNvSpPr/>
          <p:nvPr/>
        </p:nvSpPr>
        <p:spPr>
          <a:xfrm>
            <a:off x="8105760" y="1257480"/>
            <a:ext cx="33620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可运行性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2" name="矩形 111" descr="{&quot;isTemplate&quot;:true,&quot;type&quot;:&quot;text&quot;}"/>
          <p:cNvSpPr/>
          <p:nvPr/>
        </p:nvSpPr>
        <p:spPr>
          <a:xfrm>
            <a:off x="8105760" y="1523880"/>
            <a:ext cx="336204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工单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审批流可演示闭环；复赛接真实系统保持同一套契约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3" name="圆角矩形 112"/>
          <p:cNvSpPr/>
          <p:nvPr/>
        </p:nvSpPr>
        <p:spPr>
          <a:xfrm>
            <a:off x="7991640" y="2286000"/>
            <a:ext cx="3590640" cy="1047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14" name="矩形 113" descr="{&quot;isTemplate&quot;:true,&quot;type&quot;:&quot;text&quot;}"/>
          <p:cNvSpPr/>
          <p:nvPr/>
        </p:nvSpPr>
        <p:spPr>
          <a:xfrm>
            <a:off x="8105760" y="2400480"/>
            <a:ext cx="33620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安全治理</a:t>
            </a:r>
            <a:r>
              <a:rPr lang="en-US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L0-L3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5" name="矩形 114" descr="{&quot;isTemplate&quot;:true,&quot;type&quot;:&quot;text&quot;}"/>
          <p:cNvSpPr/>
          <p:nvPr/>
        </p:nvSpPr>
        <p:spPr>
          <a:xfrm>
            <a:off x="8105760" y="2666880"/>
            <a:ext cx="336204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L0/L1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自动执行（可回放）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L2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审批单（执行人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时间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回滚点）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L3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人工闭环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7991640" y="3429000"/>
            <a:ext cx="3590640" cy="1047240"/>
          </a:xfrm>
          <a:prstGeom prst="roundRect">
            <a:avLst>
              <a:gd name="adj" fmla="val 9091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17" name="矩形 116" descr="{&quot;isTemplate&quot;:true,&quot;type&quot;:&quot;text&quot;}"/>
          <p:cNvSpPr/>
          <p:nvPr/>
        </p:nvSpPr>
        <p:spPr>
          <a:xfrm>
            <a:off x="8105760" y="3543480"/>
            <a:ext cx="33620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运行证据与审计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8" name="矩形 117" descr="{&quot;isTemplate&quot;:true,&quot;type&quot;:&quot;text&quot;}"/>
          <p:cNvSpPr/>
          <p:nvPr/>
        </p:nvSpPr>
        <p:spPr>
          <a:xfrm>
            <a:off x="8105760" y="3809880"/>
            <a:ext cx="336204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输出附带证据引用；支持按工单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/Agent/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时间回放；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Badcase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回流数据集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19" name="圆角矩形 118"/>
          <p:cNvSpPr/>
          <p:nvPr/>
        </p:nvSpPr>
        <p:spPr>
          <a:xfrm>
            <a:off x="7991640" y="4572000"/>
            <a:ext cx="3590640" cy="1323720"/>
          </a:xfrm>
          <a:prstGeom prst="roundRect">
            <a:avLst>
              <a:gd name="adj" fmla="val 7194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20" name="矩形 119" descr="{&quot;isTemplate&quot;:true,&quot;type&quot;:&quot;text&quot;}"/>
          <p:cNvSpPr/>
          <p:nvPr/>
        </p:nvSpPr>
        <p:spPr>
          <a:xfrm>
            <a:off x="8105760" y="4686480"/>
            <a:ext cx="336204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云产品选型与边界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21" name="矩形 120" descr="{&quot;isTemplate&quot;:true,&quot;type&quot;:&quot;text&quot;}"/>
          <p:cNvSpPr/>
          <p:nvPr/>
        </p:nvSpPr>
        <p:spPr>
          <a:xfrm>
            <a:off x="8105760" y="4952880"/>
            <a:ext cx="3362040" cy="8283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底座内建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外挂可选（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Nacos/PolarDB/RocketMQ/LoongSuite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），可替换性已说明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22" name="矩形 121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23" name="矩形 122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13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矩形 12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26" name="任意多边形 125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27" name="任意多边形 126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29" name="图片 128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130" name="矩形 129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第六章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31" name="矩形 130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</a:t>
            </a: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开源计划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32" name="矩形 131" descr="{&quot;isTemplate&quot;:true,&quot;type&quot;:&quot;text&quot;}"/>
          <p:cNvSpPr/>
          <p:nvPr/>
        </p:nvSpPr>
        <p:spPr>
          <a:xfrm>
            <a:off x="762120" y="3371760"/>
            <a:ext cx="130464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5%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33" name="矩形 132" descr="{&quot;isTemplate&quot;:true,&quot;type&quot;:&quot;text&quot;}"/>
          <p:cNvSpPr/>
          <p:nvPr/>
        </p:nvSpPr>
        <p:spPr>
          <a:xfrm>
            <a:off x="2181240" y="3371760"/>
            <a:ext cx="161892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开源贡献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35" name="矩形 134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可复用成果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接口契约与文档示例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开源协议与第三方依赖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36" name="矩形 135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14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矩形 137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39" name="圆角矩形 138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40" name="图片 13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141" name="矩形 140" descr="{&quot;isTemplate&quot;:true,&quot;type&quot;:&quot;text&quot;}"/>
          <p:cNvSpPr/>
          <p:nvPr/>
        </p:nvSpPr>
        <p:spPr>
          <a:xfrm>
            <a:off x="1238400" y="343080"/>
            <a:ext cx="480024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开源：可复用的 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资产包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42" name="矩形 141" descr="{&quot;isTemplate&quot;:true,&quot;type&quot;:&quot;text&quot;}"/>
          <p:cNvSpPr/>
          <p:nvPr/>
        </p:nvSpPr>
        <p:spPr>
          <a:xfrm>
            <a:off x="1238400" y="809640"/>
            <a:ext cx="480024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第六章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开放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开源计划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43" name="矩形 142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15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44" name="矩形 143" descr="{&quot;isTemplate&quot;:true,&quot;type&quot;:&quot;text&quot;}"/>
          <p:cNvSpPr/>
          <p:nvPr/>
        </p:nvSpPr>
        <p:spPr>
          <a:xfrm>
            <a:off x="609480" y="2076480"/>
            <a:ext cx="4000320" cy="1885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25000"/>
              </a:lnSpc>
            </a:pPr>
            <a:r>
              <a:rPr lang="zh-CN" sz="330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让每个团队都能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25000"/>
              </a:lnSpc>
            </a:pPr>
            <a:r>
              <a:rPr lang="zh-CN" sz="330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搭起自己的服务台</a:t>
            </a:r>
            <a:r>
              <a:rPr lang="en-US" sz="330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330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45" name="圆角矩形 144"/>
          <p:cNvSpPr/>
          <p:nvPr/>
        </p:nvSpPr>
        <p:spPr>
          <a:xfrm>
            <a:off x="609480" y="4114800"/>
            <a:ext cx="761760" cy="378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B82F6"/>
              </a:gs>
              <a:gs pos="100000">
                <a:srgbClr val="06B6D4"/>
              </a:gs>
            </a:gsLst>
            <a:lin ang="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46" name="矩形 145" descr="{&quot;isTemplate&quot;:true,&quot;type&quot;:&quot;text&quot;}"/>
          <p:cNvSpPr/>
          <p:nvPr/>
        </p:nvSpPr>
        <p:spPr>
          <a:xfrm>
            <a:off x="609480" y="4305240"/>
            <a:ext cx="4000320" cy="1047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60000"/>
              </a:lnSpc>
            </a:pPr>
            <a:r>
              <a:rPr lang="zh-CN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开源可复用、可验证、可演进的</a:t>
            </a:r>
            <a:r>
              <a:rPr lang="en-US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资产包，降低后续团队门槛，形成服务台 </a:t>
            </a:r>
            <a:r>
              <a:rPr lang="en-US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</a:t>
            </a:r>
            <a:r>
              <a:rPr lang="zh-CN" sz="143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的参考实现与最佳实践。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4915080" y="1143000"/>
            <a:ext cx="6667200" cy="11235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48" name="圆角矩形 147"/>
          <p:cNvSpPr/>
          <p:nvPr/>
        </p:nvSpPr>
        <p:spPr>
          <a:xfrm>
            <a:off x="5067360" y="1295280"/>
            <a:ext cx="456840" cy="456840"/>
          </a:xfrm>
          <a:prstGeom prst="roundRect">
            <a:avLst>
              <a:gd name="adj" fmla="val 20833"/>
            </a:avLst>
          </a:prstGeom>
          <a:solidFill>
            <a:srgbClr val="3B82F6">
              <a:alpha val="1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49" name="图片 14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1480" y="1409760"/>
            <a:ext cx="228240" cy="228240"/>
          </a:xfrm>
          <a:prstGeom prst="rect">
            <a:avLst/>
          </a:prstGeom>
          <a:noFill/>
        </p:spPr>
      </p:pic>
      <p:sp>
        <p:nvSpPr>
          <p:cNvPr id="150" name="矩形 149" descr="{&quot;isTemplate&quot;:true,&quot;type&quot;:&quot;text&quot;}"/>
          <p:cNvSpPr/>
          <p:nvPr/>
        </p:nvSpPr>
        <p:spPr>
          <a:xfrm>
            <a:off x="5657760" y="1295280"/>
            <a:ext cx="5771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开源范围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51" name="矩形 150" descr="{&quot;isTemplate&quot;:true,&quot;type&quot;:&quot;text&quot;}"/>
          <p:cNvSpPr/>
          <p:nvPr/>
        </p:nvSpPr>
        <p:spPr>
          <a:xfrm>
            <a:off x="5657760" y="1562040"/>
            <a:ext cx="577188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核心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Skills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9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个通用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+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场景示例）、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AgentSpec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工具、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Demo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运行脚本、接口契约、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Schema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、样例数据、运行录像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52" name="圆角矩形 151"/>
          <p:cNvSpPr/>
          <p:nvPr/>
        </p:nvSpPr>
        <p:spPr>
          <a:xfrm>
            <a:off x="4915080" y="2419200"/>
            <a:ext cx="6667200" cy="11235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53" name="圆角矩形 152"/>
          <p:cNvSpPr/>
          <p:nvPr/>
        </p:nvSpPr>
        <p:spPr>
          <a:xfrm>
            <a:off x="5067360" y="2571840"/>
            <a:ext cx="456840" cy="456840"/>
          </a:xfrm>
          <a:prstGeom prst="roundRect">
            <a:avLst>
              <a:gd name="adj" fmla="val 20833"/>
            </a:avLst>
          </a:prstGeom>
          <a:solidFill>
            <a:srgbClr val="06B6D4">
              <a:alpha val="1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54" name="图片 153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1480" y="2685960"/>
            <a:ext cx="228240" cy="228240"/>
          </a:xfrm>
          <a:prstGeom prst="rect">
            <a:avLst/>
          </a:prstGeom>
          <a:noFill/>
        </p:spPr>
      </p:pic>
      <p:sp>
        <p:nvSpPr>
          <p:cNvPr id="155" name="矩形 154" descr="{&quot;isTemplate&quot;:true,&quot;type&quot;:&quot;text&quot;}"/>
          <p:cNvSpPr/>
          <p:nvPr/>
        </p:nvSpPr>
        <p:spPr>
          <a:xfrm>
            <a:off x="5657760" y="2571840"/>
            <a:ext cx="5771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复用方式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56" name="矩形 155" descr="{&quot;isTemplate&quot;:true,&quot;type&quot;:&quot;text&quot;}"/>
          <p:cNvSpPr/>
          <p:nvPr/>
        </p:nvSpPr>
        <p:spPr>
          <a:xfrm>
            <a:off x="5657760" y="2838600"/>
            <a:ext cx="577188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其他团队可直接复用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ImTicketNormalizer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RunbookRag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SafeResolver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Postmortem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等通用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；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无状态、可替换，换场景不换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57" name="圆角矩形 156"/>
          <p:cNvSpPr/>
          <p:nvPr/>
        </p:nvSpPr>
        <p:spPr>
          <a:xfrm>
            <a:off x="4915080" y="3695760"/>
            <a:ext cx="6667200" cy="11235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5067360" y="3848040"/>
            <a:ext cx="456840" cy="456840"/>
          </a:xfrm>
          <a:prstGeom prst="roundRect">
            <a:avLst>
              <a:gd name="adj" fmla="val 20833"/>
            </a:avLst>
          </a:prstGeom>
          <a:solidFill>
            <a:srgbClr val="8B5CF6">
              <a:alpha val="1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59" name="图片 158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81480" y="3962520"/>
            <a:ext cx="228240" cy="228240"/>
          </a:xfrm>
          <a:prstGeom prst="rect">
            <a:avLst/>
          </a:prstGeom>
          <a:noFill/>
        </p:spPr>
      </p:pic>
      <p:sp>
        <p:nvSpPr>
          <p:cNvPr id="160" name="矩形 159" descr="{&quot;isTemplate&quot;:true,&quot;type&quot;:&quot;text&quot;}"/>
          <p:cNvSpPr/>
          <p:nvPr/>
        </p:nvSpPr>
        <p:spPr>
          <a:xfrm>
            <a:off x="5657760" y="3848040"/>
            <a:ext cx="5771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合规边界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61" name="矩形 160" descr="{&quot;isTemplate&quot;:true,&quot;type&quot;:&quot;text&quot;}"/>
          <p:cNvSpPr/>
          <p:nvPr/>
        </p:nvSpPr>
        <p:spPr>
          <a:xfrm>
            <a:off x="5657760" y="4114800"/>
            <a:ext cx="577188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0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拟采用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MIT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协议；完整披露第三方依赖、商业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API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DeepSeek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）、闭源模型使用范围与迁移成本；数据全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自建，无授权风险；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Schema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预留脱敏字段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62" name="矩形 161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63" name="矩形 162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15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矩形 16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66" name="任意多边形 165"/>
          <p:cNvSpPr/>
          <p:nvPr/>
        </p:nvSpPr>
        <p:spPr>
          <a:xfrm>
            <a:off x="8953560" y="-952560"/>
            <a:ext cx="3809520" cy="3809520"/>
          </a:xfrm>
          <a:custGeom>
            <a:avLst/>
            <a:gdLst/>
            <a:ahLst/>
            <a:cxnLst/>
            <a:rect l="l" t="t" r="r" b="b"/>
            <a:pathLst>
              <a:path w="400" h="400">
                <a:moveTo>
                  <a:pt x="340" y="343"/>
                </a:moveTo>
                <a:cubicBezTo>
                  <a:pt x="311" y="371"/>
                  <a:pt x="275" y="390"/>
                  <a:pt x="235" y="397"/>
                </a:cubicBezTo>
                <a:lnTo>
                  <a:pt x="230" y="398"/>
                </a:lnTo>
                <a:lnTo>
                  <a:pt x="225" y="398"/>
                </a:lnTo>
                <a:lnTo>
                  <a:pt x="220" y="399"/>
                </a:lnTo>
                <a:lnTo>
                  <a:pt x="215" y="399"/>
                </a:lnTo>
                <a:lnTo>
                  <a:pt x="210" y="400"/>
                </a:lnTo>
                <a:lnTo>
                  <a:pt x="205" y="400"/>
                </a:lnTo>
                <a:lnTo>
                  <a:pt x="200" y="400"/>
                </a:lnTo>
                <a:lnTo>
                  <a:pt x="195" y="400"/>
                </a:lnTo>
                <a:lnTo>
                  <a:pt x="190" y="400"/>
                </a:lnTo>
                <a:lnTo>
                  <a:pt x="185" y="399"/>
                </a:lnTo>
                <a:lnTo>
                  <a:pt x="180" y="399"/>
                </a:lnTo>
                <a:lnTo>
                  <a:pt x="175" y="398"/>
                </a:lnTo>
                <a:lnTo>
                  <a:pt x="170" y="398"/>
                </a:lnTo>
                <a:lnTo>
                  <a:pt x="165" y="397"/>
                </a:lnTo>
                <a:cubicBezTo>
                  <a:pt x="82" y="382"/>
                  <a:pt x="18" y="318"/>
                  <a:pt x="3" y="235"/>
                </a:cubicBezTo>
                <a:lnTo>
                  <a:pt x="2" y="230"/>
                </a:lnTo>
                <a:lnTo>
                  <a:pt x="2" y="225"/>
                </a:lnTo>
                <a:lnTo>
                  <a:pt x="1" y="220"/>
                </a:lnTo>
                <a:lnTo>
                  <a:pt x="1" y="215"/>
                </a:lnTo>
                <a:lnTo>
                  <a:pt x="0" y="210"/>
                </a:lnTo>
                <a:lnTo>
                  <a:pt x="0" y="205"/>
                </a:lnTo>
                <a:lnTo>
                  <a:pt x="0" y="200"/>
                </a:lnTo>
                <a:lnTo>
                  <a:pt x="0" y="195"/>
                </a:lnTo>
                <a:lnTo>
                  <a:pt x="0" y="190"/>
                </a:lnTo>
                <a:lnTo>
                  <a:pt x="1" y="185"/>
                </a:lnTo>
                <a:lnTo>
                  <a:pt x="1" y="180"/>
                </a:lnTo>
                <a:lnTo>
                  <a:pt x="2" y="175"/>
                </a:lnTo>
                <a:lnTo>
                  <a:pt x="2" y="170"/>
                </a:lnTo>
                <a:lnTo>
                  <a:pt x="3" y="165"/>
                </a:lnTo>
                <a:cubicBezTo>
                  <a:pt x="7" y="142"/>
                  <a:pt x="15" y="120"/>
                  <a:pt x="27" y="100"/>
                </a:cubicBezTo>
                <a:lnTo>
                  <a:pt x="340" y="10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67" name="任意多边形 166"/>
          <p:cNvSpPr/>
          <p:nvPr/>
        </p:nvSpPr>
        <p:spPr>
          <a:xfrm>
            <a:off x="-380880" y="4762440"/>
            <a:ext cx="3238200" cy="3238200"/>
          </a:xfrm>
          <a:custGeom>
            <a:avLst/>
            <a:gdLst/>
            <a:ahLst/>
            <a:cxnLst/>
            <a:rect l="l" t="t" r="r" b="b"/>
            <a:pathLst>
              <a:path w="340" h="340">
                <a:moveTo>
                  <a:pt x="174" y="0"/>
                </a:moveTo>
                <a:cubicBezTo>
                  <a:pt x="228" y="1"/>
                  <a:pt x="277" y="28"/>
                  <a:pt x="308" y="71"/>
                </a:cubicBezTo>
                <a:cubicBezTo>
                  <a:pt x="339" y="114"/>
                  <a:pt x="348" y="169"/>
                  <a:pt x="333" y="220"/>
                </a:cubicBezTo>
                <a:lnTo>
                  <a:pt x="40" y="220"/>
                </a:lnTo>
                <a:lnTo>
                  <a:pt x="40" y="61"/>
                </a:lnTo>
                <a:cubicBezTo>
                  <a:pt x="72" y="22"/>
                  <a:pt x="120" y="0"/>
                  <a:pt x="17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68" name="圆角矩形 167"/>
          <p:cNvSpPr/>
          <p:nvPr/>
        </p:nvSpPr>
        <p:spPr>
          <a:xfrm>
            <a:off x="762120" y="1647720"/>
            <a:ext cx="456840" cy="456840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69" name="图片 168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240" y="1762200"/>
            <a:ext cx="228240" cy="228240"/>
          </a:xfrm>
          <a:prstGeom prst="rect">
            <a:avLst/>
          </a:prstGeom>
          <a:noFill/>
        </p:spPr>
      </p:pic>
      <p:sp>
        <p:nvSpPr>
          <p:cNvPr id="170" name="矩形 169" descr="{&quot;isTemplate&quot;:true,&quot;type&quot;:&quot;text&quot;}"/>
          <p:cNvSpPr/>
          <p:nvPr/>
        </p:nvSpPr>
        <p:spPr>
          <a:xfrm>
            <a:off x="1352520" y="1752480"/>
            <a:ext cx="685440" cy="256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650" b="1" u="none" strike="noStrike" spc="150">
                <a:solidFill>
                  <a:srgbClr val="FFFFFF">
                    <a:alpha val="9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第七章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71" name="矩形 170" descr="{&quot;isTemplate&quot;:true,&quot;type&quot;:&quot;text&quot;}"/>
          <p:cNvSpPr/>
          <p:nvPr/>
        </p:nvSpPr>
        <p:spPr>
          <a:xfrm>
            <a:off x="762120" y="2333520"/>
            <a:ext cx="10667520" cy="771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420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落地计划与进展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72" name="矩形 171" descr="{&quot;isTemplate&quot;:true,&quot;type&quot;:&quot;text&quot;}"/>
          <p:cNvSpPr/>
          <p:nvPr/>
        </p:nvSpPr>
        <p:spPr>
          <a:xfrm>
            <a:off x="762120" y="3371760"/>
            <a:ext cx="112356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6600" b="1" u="none" strike="noStrike">
                <a:solidFill>
                  <a:srgbClr val="06B6D4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V2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73" name="矩形 172" descr="{&quot;isTemplate&quot;:true,&quot;type&quot;:&quot;text&quot;}"/>
          <p:cNvSpPr/>
          <p:nvPr/>
        </p:nvSpPr>
        <p:spPr>
          <a:xfrm>
            <a:off x="2000160" y="3371760"/>
            <a:ext cx="2285640" cy="1009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当前进展与整体可行性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74" name="圆角矩形 173"/>
          <p:cNvSpPr/>
          <p:nvPr/>
        </p:nvSpPr>
        <p:spPr>
          <a:xfrm>
            <a:off x="762120" y="464832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75" name="矩形 174" descr="{&quot;isTemplate&quot;:true,&quot;type&quot;:&quot;text&quot;}"/>
          <p:cNvSpPr/>
          <p:nvPr/>
        </p:nvSpPr>
        <p:spPr>
          <a:xfrm>
            <a:off x="762120" y="4876920"/>
            <a:ext cx="10667520" cy="342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50000"/>
              </a:lnSpc>
            </a:pP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当前进展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里程碑与落地计划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风险控制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76" name="矩形 175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16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 177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79" name="圆角矩形 178"/>
          <p:cNvSpPr/>
          <p:nvPr/>
        </p:nvSpPr>
        <p:spPr>
          <a:xfrm>
            <a:off x="609480" y="428760"/>
            <a:ext cx="495000" cy="495000"/>
          </a:xfrm>
          <a:prstGeom prst="roundRect">
            <a:avLst>
              <a:gd name="adj" fmla="val 23077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80" name="图片 17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20" y="552600"/>
            <a:ext cx="247320" cy="247320"/>
          </a:xfrm>
          <a:prstGeom prst="rect">
            <a:avLst/>
          </a:prstGeom>
          <a:noFill/>
        </p:spPr>
      </p:pic>
      <p:sp>
        <p:nvSpPr>
          <p:cNvPr id="181" name="矩形 180" descr="{&quot;isTemplate&quot;:true,&quot;type&quot;:&quot;text&quot;}"/>
          <p:cNvSpPr/>
          <p:nvPr/>
        </p:nvSpPr>
        <p:spPr>
          <a:xfrm>
            <a:off x="1238400" y="343080"/>
            <a:ext cx="49906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20000"/>
              </a:lnSpc>
            </a:pP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落地计划：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V2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现状与 </a:t>
            </a:r>
            <a:r>
              <a:rPr lang="en-US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V3/V4 </a:t>
            </a:r>
            <a:r>
              <a:rPr lang="zh-CN" sz="2400" b="1" u="none" strike="noStrike">
                <a:solidFill>
                  <a:srgbClr val="1F2937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路线图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82" name="矩形 181" descr="{&quot;isTemplate&quot;:true,&quot;type&quot;:&quot;text&quot;}"/>
          <p:cNvSpPr/>
          <p:nvPr/>
        </p:nvSpPr>
        <p:spPr>
          <a:xfrm>
            <a:off x="1238400" y="809640"/>
            <a:ext cx="499068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第七章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6B7280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落地计划与进展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83" name="矩形 182" descr="{&quot;isTemplate&quot;:true,&quot;type&quot;:&quot;text&quot;}"/>
          <p:cNvSpPr/>
          <p:nvPr/>
        </p:nvSpPr>
        <p:spPr>
          <a:xfrm>
            <a:off x="11125080" y="5904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17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609480" y="1143000"/>
            <a:ext cx="7191000" cy="5181120"/>
          </a:xfrm>
          <a:prstGeom prst="roundRect">
            <a:avLst>
              <a:gd name="adj" fmla="val 2206"/>
            </a:avLst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pic>
        <p:nvPicPr>
          <p:cNvPr id="185" name="图片 184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219320"/>
            <a:ext cx="7038720" cy="5028840"/>
          </a:xfrm>
          <a:prstGeom prst="rect">
            <a:avLst/>
          </a:prstGeom>
          <a:noFill/>
        </p:spPr>
      </p:pic>
      <p:sp>
        <p:nvSpPr>
          <p:cNvPr id="186" name="圆角矩形 185"/>
          <p:cNvSpPr/>
          <p:nvPr/>
        </p:nvSpPr>
        <p:spPr>
          <a:xfrm>
            <a:off x="7991640" y="114300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87" name="矩形 186" descr="{&quot;isTemplate&quot;:true,&quot;type&quot;:&quot;text&quot;}"/>
          <p:cNvSpPr/>
          <p:nvPr/>
        </p:nvSpPr>
        <p:spPr>
          <a:xfrm>
            <a:off x="8124840" y="127620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当前进展（已完成）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88" name="矩形 187" descr="{&quot;isTemplate&quot;:true,&quot;type&quot;:&quot;text&quot;}"/>
          <p:cNvSpPr/>
          <p:nvPr/>
        </p:nvSpPr>
        <p:spPr>
          <a:xfrm>
            <a:off x="8124840" y="154296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55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方案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V2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赛题格式完整版：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 Identity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清单、逐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完整清单、合规披露、可复制性论证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7991640" y="236232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0">
            <a:noFill/>
          </a:ln>
          <a:effectLst>
            <a:outerShdw blurRad="190440" dist="38160" dir="5400000">
              <a:srgbClr val="000000">
                <a:alpha val="8000"/>
              </a:srgb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90" name="矩形 189" descr="{&quot;isTemplate&quot;:true,&quot;type&quot;:&quot;text&quot;}"/>
          <p:cNvSpPr/>
          <p:nvPr/>
        </p:nvSpPr>
        <p:spPr>
          <a:xfrm>
            <a:off x="8124840" y="249552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1E3A8A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近期里程碑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1" name="矩形 190" descr="{&quot;isTemplate&quot;:true,&quot;type&quot;:&quot;text&quot;}"/>
          <p:cNvSpPr/>
          <p:nvPr/>
        </p:nvSpPr>
        <p:spPr>
          <a:xfrm>
            <a:off x="8124840" y="276228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作品简介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500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字 → ②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Demo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最小闭环运行证据 → ③ 方案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PPT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定稿 → ④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8.16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提交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2" name="圆角矩形 191"/>
          <p:cNvSpPr/>
          <p:nvPr/>
        </p:nvSpPr>
        <p:spPr>
          <a:xfrm>
            <a:off x="7991640" y="3581280"/>
            <a:ext cx="3590640" cy="1676160"/>
          </a:xfrm>
          <a:prstGeom prst="roundRect">
            <a:avLst>
              <a:gd name="adj" fmla="val 6818"/>
            </a:avLst>
          </a:prstGeom>
          <a:gradFill rotWithShape="0">
            <a:gsLst>
              <a:gs pos="0">
                <a:srgbClr val="1E3A8A"/>
              </a:gs>
              <a:gs pos="100000">
                <a:srgbClr val="3B82F6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93" name="矩形 192" descr="{&quot;isTemplate&quot;:true,&quot;type&quot;:&quot;text&quot;}"/>
          <p:cNvSpPr/>
          <p:nvPr/>
        </p:nvSpPr>
        <p:spPr>
          <a:xfrm>
            <a:off x="8124840" y="371484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风险控制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4" name="矩形 193" descr="{&quot;isTemplate&quot;:true,&quot;type&quot;:&quot;text&quot;}"/>
          <p:cNvSpPr/>
          <p:nvPr/>
        </p:nvSpPr>
        <p:spPr>
          <a:xfrm>
            <a:off x="8124840" y="3981600"/>
            <a:ext cx="332388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无验证材料风险 →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8.16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前跑通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Mock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闭环留证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单场景扩展风险 →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9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通用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 +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三阶段拓展路径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  <a:p>
            <a:pPr defTabSz="914400">
              <a:lnSpc>
                <a:spcPct val="155000"/>
              </a:lnSpc>
            </a:pP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模型依赖风险 → </a:t>
            </a:r>
            <a:r>
              <a:rPr lang="en-US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Higress </a:t>
            </a:r>
            <a:r>
              <a:rPr lang="zh-CN" sz="1200" b="0" u="none" strike="noStrike">
                <a:solidFill>
                  <a:srgbClr val="FFFFFF">
                    <a:alpha val="92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路由可换开源模型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5" name="圆角矩形 194"/>
          <p:cNvSpPr/>
          <p:nvPr/>
        </p:nvSpPr>
        <p:spPr>
          <a:xfrm>
            <a:off x="7991640" y="5372280"/>
            <a:ext cx="3590640" cy="1104480"/>
          </a:xfrm>
          <a:prstGeom prst="roundRect">
            <a:avLst>
              <a:gd name="adj" fmla="val 10345"/>
            </a:avLst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96" name="矩形 195" descr="{&quot;isTemplate&quot;:true,&quot;type&quot;:&quot;text&quot;}"/>
          <p:cNvSpPr/>
          <p:nvPr/>
        </p:nvSpPr>
        <p:spPr>
          <a:xfrm>
            <a:off x="8124840" y="5505480"/>
            <a:ext cx="332388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350" b="1" u="none" strike="noStrike">
                <a:solidFill>
                  <a:srgbClr val="0891B2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可复制性落地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7" name="矩形 196" descr="{&quot;isTemplate&quot;:true,&quot;type&quot;:&quot;text&quot;}"/>
          <p:cNvSpPr/>
          <p:nvPr/>
        </p:nvSpPr>
        <p:spPr>
          <a:xfrm>
            <a:off x="8124840" y="5772240"/>
            <a:ext cx="332388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55000"/>
              </a:lnSpc>
            </a:pP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三阶段：账户异常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→ 服务台全域 → 跨部门入口型场景；换场景只换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4 </a:t>
            </a:r>
            <a:r>
              <a:rPr lang="zh-CN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个 </a:t>
            </a:r>
            <a:r>
              <a:rPr lang="en-US" sz="1200" b="0" u="none" strike="noStrike">
                <a:solidFill>
                  <a:srgbClr val="4B5563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8" name="矩形 197" descr="{&quot;isTemplate&quot;:true,&quot;type&quot;:&quot;text&quot;}"/>
          <p:cNvSpPr/>
          <p:nvPr/>
        </p:nvSpPr>
        <p:spPr>
          <a:xfrm>
            <a:off x="609480" y="6400800"/>
            <a:ext cx="26096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Agent Infra </a:t>
            </a:r>
            <a:r>
              <a:rPr lang="zh-CN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初赛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199" name="矩形 198" descr="{&quot;isTemplate&quot;:true,&quot;type&quot;:&quot;text&quot;}"/>
          <p:cNvSpPr/>
          <p:nvPr/>
        </p:nvSpPr>
        <p:spPr>
          <a:xfrm>
            <a:off x="11125080" y="640080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CA3A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17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矩形 200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gradFill rotWithShape="0">
            <a:gsLst>
              <a:gs pos="0">
                <a:srgbClr val="1E3A8A"/>
              </a:gs>
              <a:gs pos="60000">
                <a:srgbClr val="3B82F6"/>
              </a:gs>
              <a:gs pos="100000">
                <a:srgbClr val="06B6D4"/>
              </a:gs>
            </a:gsLst>
            <a:lin ang="27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2" name="任意多边形 201"/>
          <p:cNvSpPr/>
          <p:nvPr/>
        </p:nvSpPr>
        <p:spPr>
          <a:xfrm>
            <a:off x="8381880" y="-1143000"/>
            <a:ext cx="4571640" cy="4571640"/>
          </a:xfrm>
          <a:custGeom>
            <a:avLst/>
            <a:gdLst/>
            <a:ahLst/>
            <a:cxnLst/>
            <a:rect l="l" t="t" r="r" b="b"/>
            <a:pathLst>
              <a:path w="480" h="480">
                <a:moveTo>
                  <a:pt x="400" y="419"/>
                </a:moveTo>
                <a:lnTo>
                  <a:pt x="397" y="421"/>
                </a:lnTo>
                <a:lnTo>
                  <a:pt x="393" y="425"/>
                </a:lnTo>
                <a:lnTo>
                  <a:pt x="388" y="429"/>
                </a:lnTo>
                <a:lnTo>
                  <a:pt x="384" y="432"/>
                </a:lnTo>
                <a:lnTo>
                  <a:pt x="379" y="436"/>
                </a:lnTo>
                <a:lnTo>
                  <a:pt x="374" y="439"/>
                </a:lnTo>
                <a:lnTo>
                  <a:pt x="369" y="442"/>
                </a:lnTo>
                <a:lnTo>
                  <a:pt x="364" y="445"/>
                </a:lnTo>
                <a:lnTo>
                  <a:pt x="359" y="448"/>
                </a:lnTo>
                <a:lnTo>
                  <a:pt x="354" y="451"/>
                </a:lnTo>
                <a:lnTo>
                  <a:pt x="349" y="454"/>
                </a:lnTo>
                <a:lnTo>
                  <a:pt x="344" y="456"/>
                </a:lnTo>
                <a:lnTo>
                  <a:pt x="339" y="459"/>
                </a:lnTo>
                <a:lnTo>
                  <a:pt x="333" y="461"/>
                </a:lnTo>
                <a:lnTo>
                  <a:pt x="328" y="463"/>
                </a:lnTo>
                <a:lnTo>
                  <a:pt x="322" y="465"/>
                </a:lnTo>
                <a:lnTo>
                  <a:pt x="317" y="467"/>
                </a:lnTo>
                <a:lnTo>
                  <a:pt x="311" y="469"/>
                </a:lnTo>
                <a:lnTo>
                  <a:pt x="306" y="471"/>
                </a:lnTo>
                <a:lnTo>
                  <a:pt x="300" y="472"/>
                </a:lnTo>
                <a:lnTo>
                  <a:pt x="294" y="474"/>
                </a:lnTo>
                <a:lnTo>
                  <a:pt x="288" y="475"/>
                </a:lnTo>
                <a:lnTo>
                  <a:pt x="282" y="476"/>
                </a:lnTo>
                <a:lnTo>
                  <a:pt x="277" y="477"/>
                </a:lnTo>
                <a:lnTo>
                  <a:pt x="271" y="478"/>
                </a:lnTo>
                <a:lnTo>
                  <a:pt x="265" y="479"/>
                </a:lnTo>
                <a:lnTo>
                  <a:pt x="258" y="479"/>
                </a:lnTo>
                <a:lnTo>
                  <a:pt x="252" y="480"/>
                </a:lnTo>
                <a:lnTo>
                  <a:pt x="246" y="480"/>
                </a:lnTo>
                <a:lnTo>
                  <a:pt x="240" y="480"/>
                </a:lnTo>
                <a:lnTo>
                  <a:pt x="234" y="480"/>
                </a:lnTo>
                <a:lnTo>
                  <a:pt x="228" y="480"/>
                </a:lnTo>
                <a:lnTo>
                  <a:pt x="222" y="479"/>
                </a:lnTo>
                <a:lnTo>
                  <a:pt x="215" y="479"/>
                </a:lnTo>
                <a:lnTo>
                  <a:pt x="209" y="478"/>
                </a:lnTo>
                <a:lnTo>
                  <a:pt x="203" y="477"/>
                </a:lnTo>
                <a:lnTo>
                  <a:pt x="198" y="476"/>
                </a:lnTo>
                <a:lnTo>
                  <a:pt x="192" y="475"/>
                </a:lnTo>
                <a:lnTo>
                  <a:pt x="186" y="474"/>
                </a:lnTo>
                <a:lnTo>
                  <a:pt x="180" y="472"/>
                </a:lnTo>
                <a:lnTo>
                  <a:pt x="174" y="471"/>
                </a:lnTo>
                <a:lnTo>
                  <a:pt x="169" y="469"/>
                </a:lnTo>
                <a:lnTo>
                  <a:pt x="163" y="467"/>
                </a:lnTo>
                <a:lnTo>
                  <a:pt x="158" y="465"/>
                </a:lnTo>
                <a:lnTo>
                  <a:pt x="152" y="463"/>
                </a:lnTo>
                <a:lnTo>
                  <a:pt x="147" y="461"/>
                </a:lnTo>
                <a:lnTo>
                  <a:pt x="141" y="459"/>
                </a:lnTo>
                <a:lnTo>
                  <a:pt x="136" y="456"/>
                </a:lnTo>
                <a:lnTo>
                  <a:pt x="131" y="454"/>
                </a:lnTo>
                <a:lnTo>
                  <a:pt x="126" y="451"/>
                </a:lnTo>
                <a:lnTo>
                  <a:pt x="121" y="448"/>
                </a:lnTo>
                <a:lnTo>
                  <a:pt x="116" y="445"/>
                </a:lnTo>
                <a:lnTo>
                  <a:pt x="111" y="442"/>
                </a:lnTo>
                <a:lnTo>
                  <a:pt x="106" y="439"/>
                </a:lnTo>
                <a:lnTo>
                  <a:pt x="101" y="436"/>
                </a:lnTo>
                <a:lnTo>
                  <a:pt x="96" y="432"/>
                </a:lnTo>
                <a:lnTo>
                  <a:pt x="92" y="429"/>
                </a:lnTo>
                <a:lnTo>
                  <a:pt x="87" y="425"/>
                </a:lnTo>
                <a:lnTo>
                  <a:pt x="83" y="421"/>
                </a:lnTo>
                <a:lnTo>
                  <a:pt x="79" y="418"/>
                </a:lnTo>
                <a:lnTo>
                  <a:pt x="74" y="414"/>
                </a:lnTo>
                <a:lnTo>
                  <a:pt x="70" y="410"/>
                </a:lnTo>
                <a:lnTo>
                  <a:pt x="66" y="406"/>
                </a:lnTo>
                <a:lnTo>
                  <a:pt x="62" y="401"/>
                </a:lnTo>
                <a:lnTo>
                  <a:pt x="59" y="397"/>
                </a:lnTo>
                <a:lnTo>
                  <a:pt x="55" y="393"/>
                </a:lnTo>
                <a:lnTo>
                  <a:pt x="51" y="388"/>
                </a:lnTo>
                <a:lnTo>
                  <a:pt x="48" y="384"/>
                </a:lnTo>
                <a:lnTo>
                  <a:pt x="44" y="379"/>
                </a:lnTo>
                <a:lnTo>
                  <a:pt x="41" y="374"/>
                </a:lnTo>
                <a:lnTo>
                  <a:pt x="38" y="369"/>
                </a:lnTo>
                <a:lnTo>
                  <a:pt x="35" y="364"/>
                </a:lnTo>
                <a:lnTo>
                  <a:pt x="32" y="359"/>
                </a:lnTo>
                <a:lnTo>
                  <a:pt x="29" y="354"/>
                </a:lnTo>
                <a:lnTo>
                  <a:pt x="26" y="349"/>
                </a:lnTo>
                <a:lnTo>
                  <a:pt x="24" y="344"/>
                </a:lnTo>
                <a:lnTo>
                  <a:pt x="21" y="339"/>
                </a:lnTo>
                <a:lnTo>
                  <a:pt x="19" y="333"/>
                </a:lnTo>
                <a:lnTo>
                  <a:pt x="17" y="328"/>
                </a:lnTo>
                <a:lnTo>
                  <a:pt x="15" y="322"/>
                </a:lnTo>
                <a:lnTo>
                  <a:pt x="13" y="317"/>
                </a:lnTo>
                <a:lnTo>
                  <a:pt x="11" y="311"/>
                </a:lnTo>
                <a:lnTo>
                  <a:pt x="9" y="306"/>
                </a:lnTo>
                <a:lnTo>
                  <a:pt x="8" y="300"/>
                </a:lnTo>
                <a:lnTo>
                  <a:pt x="6" y="294"/>
                </a:lnTo>
                <a:lnTo>
                  <a:pt x="5" y="288"/>
                </a:lnTo>
                <a:lnTo>
                  <a:pt x="4" y="282"/>
                </a:lnTo>
                <a:lnTo>
                  <a:pt x="3" y="277"/>
                </a:lnTo>
                <a:lnTo>
                  <a:pt x="2" y="271"/>
                </a:lnTo>
                <a:lnTo>
                  <a:pt x="1" y="265"/>
                </a:lnTo>
                <a:lnTo>
                  <a:pt x="1" y="258"/>
                </a:lnTo>
                <a:lnTo>
                  <a:pt x="0" y="252"/>
                </a:lnTo>
                <a:lnTo>
                  <a:pt x="0" y="246"/>
                </a:lnTo>
                <a:lnTo>
                  <a:pt x="0" y="240"/>
                </a:lnTo>
                <a:lnTo>
                  <a:pt x="0" y="234"/>
                </a:lnTo>
                <a:lnTo>
                  <a:pt x="0" y="228"/>
                </a:lnTo>
                <a:lnTo>
                  <a:pt x="1" y="222"/>
                </a:lnTo>
                <a:lnTo>
                  <a:pt x="1" y="215"/>
                </a:lnTo>
                <a:lnTo>
                  <a:pt x="2" y="209"/>
                </a:lnTo>
                <a:lnTo>
                  <a:pt x="3" y="203"/>
                </a:lnTo>
                <a:lnTo>
                  <a:pt x="4" y="198"/>
                </a:lnTo>
                <a:lnTo>
                  <a:pt x="5" y="192"/>
                </a:lnTo>
                <a:lnTo>
                  <a:pt x="6" y="186"/>
                </a:lnTo>
                <a:lnTo>
                  <a:pt x="8" y="180"/>
                </a:lnTo>
                <a:lnTo>
                  <a:pt x="9" y="174"/>
                </a:lnTo>
                <a:lnTo>
                  <a:pt x="11" y="169"/>
                </a:lnTo>
                <a:lnTo>
                  <a:pt x="13" y="163"/>
                </a:lnTo>
                <a:lnTo>
                  <a:pt x="15" y="158"/>
                </a:lnTo>
                <a:lnTo>
                  <a:pt x="17" y="152"/>
                </a:lnTo>
                <a:lnTo>
                  <a:pt x="19" y="147"/>
                </a:lnTo>
                <a:lnTo>
                  <a:pt x="21" y="141"/>
                </a:lnTo>
                <a:lnTo>
                  <a:pt x="24" y="136"/>
                </a:lnTo>
                <a:lnTo>
                  <a:pt x="26" y="131"/>
                </a:lnTo>
                <a:lnTo>
                  <a:pt x="29" y="126"/>
                </a:lnTo>
                <a:lnTo>
                  <a:pt x="32" y="121"/>
                </a:lnTo>
                <a:lnTo>
                  <a:pt x="32" y="120"/>
                </a:lnTo>
                <a:lnTo>
                  <a:pt x="400" y="12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3" name="任意多边形 202"/>
          <p:cNvSpPr/>
          <p:nvPr/>
        </p:nvSpPr>
        <p:spPr>
          <a:xfrm>
            <a:off x="-571680" y="4381560"/>
            <a:ext cx="4000320" cy="4000320"/>
          </a:xfrm>
          <a:custGeom>
            <a:avLst/>
            <a:gdLst/>
            <a:ahLst/>
            <a:cxnLst/>
            <a:rect l="l" t="t" r="r" b="b"/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1" y="88"/>
                </a:lnTo>
                <a:lnTo>
                  <a:pt x="384" y="93"/>
                </a:lnTo>
                <a:lnTo>
                  <a:pt x="387" y="97"/>
                </a:lnTo>
                <a:lnTo>
                  <a:pt x="390" y="101"/>
                </a:lnTo>
                <a:lnTo>
                  <a:pt x="392" y="106"/>
                </a:lnTo>
                <a:lnTo>
                  <a:pt x="395" y="110"/>
                </a:lnTo>
                <a:lnTo>
                  <a:pt x="397" y="114"/>
                </a:lnTo>
                <a:lnTo>
                  <a:pt x="399" y="119"/>
                </a:lnTo>
                <a:lnTo>
                  <a:pt x="401" y="124"/>
                </a:lnTo>
                <a:lnTo>
                  <a:pt x="403" y="128"/>
                </a:lnTo>
                <a:lnTo>
                  <a:pt x="405" y="133"/>
                </a:lnTo>
                <a:lnTo>
                  <a:pt x="407" y="138"/>
                </a:lnTo>
                <a:lnTo>
                  <a:pt x="409" y="143"/>
                </a:lnTo>
                <a:lnTo>
                  <a:pt x="411" y="148"/>
                </a:lnTo>
                <a:lnTo>
                  <a:pt x="412" y="153"/>
                </a:lnTo>
                <a:lnTo>
                  <a:pt x="413" y="158"/>
                </a:lnTo>
                <a:lnTo>
                  <a:pt x="415" y="163"/>
                </a:lnTo>
                <a:lnTo>
                  <a:pt x="416" y="168"/>
                </a:lnTo>
                <a:lnTo>
                  <a:pt x="417" y="173"/>
                </a:lnTo>
                <a:lnTo>
                  <a:pt x="418" y="178"/>
                </a:lnTo>
                <a:lnTo>
                  <a:pt x="418" y="183"/>
                </a:lnTo>
                <a:lnTo>
                  <a:pt x="419" y="189"/>
                </a:lnTo>
                <a:lnTo>
                  <a:pt x="419" y="194"/>
                </a:lnTo>
                <a:lnTo>
                  <a:pt x="420" y="199"/>
                </a:lnTo>
                <a:lnTo>
                  <a:pt x="420" y="205"/>
                </a:lnTo>
                <a:lnTo>
                  <a:pt x="420" y="210"/>
                </a:lnTo>
                <a:lnTo>
                  <a:pt x="420" y="215"/>
                </a:lnTo>
                <a:lnTo>
                  <a:pt x="420" y="221"/>
                </a:lnTo>
                <a:lnTo>
                  <a:pt x="419" y="226"/>
                </a:lnTo>
                <a:lnTo>
                  <a:pt x="419" y="231"/>
                </a:lnTo>
                <a:lnTo>
                  <a:pt x="418" y="237"/>
                </a:lnTo>
                <a:lnTo>
                  <a:pt x="418" y="242"/>
                </a:lnTo>
                <a:lnTo>
                  <a:pt x="417" y="247"/>
                </a:lnTo>
                <a:lnTo>
                  <a:pt x="416" y="252"/>
                </a:lnTo>
                <a:lnTo>
                  <a:pt x="415" y="257"/>
                </a:lnTo>
                <a:lnTo>
                  <a:pt x="414" y="260"/>
                </a:lnTo>
                <a:lnTo>
                  <a:pt x="60" y="260"/>
                </a:lnTo>
                <a:lnTo>
                  <a:pt x="60" y="63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FFFFFF">
              <a:alpha val="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4" name="任意多边形 203"/>
          <p:cNvSpPr/>
          <p:nvPr/>
        </p:nvSpPr>
        <p:spPr>
          <a:xfrm>
            <a:off x="1523880" y="1905120"/>
            <a:ext cx="95040" cy="9504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5" y="0"/>
                </a:moveTo>
                <a:lnTo>
                  <a:pt x="5" y="0"/>
                </a:lnTo>
                <a:cubicBezTo>
                  <a:pt x="8" y="0"/>
                  <a:pt x="10" y="2"/>
                  <a:pt x="10" y="5"/>
                </a:cubicBezTo>
                <a:lnTo>
                  <a:pt x="10" y="5"/>
                </a:lnTo>
                <a:cubicBezTo>
                  <a:pt x="10" y="8"/>
                  <a:pt x="8" y="10"/>
                  <a:pt x="5" y="10"/>
                </a:cubicBezTo>
                <a:lnTo>
                  <a:pt x="5" y="10"/>
                </a:lnTo>
                <a:cubicBezTo>
                  <a:pt x="2" y="10"/>
                  <a:pt x="0" y="8"/>
                  <a:pt x="0" y="5"/>
                </a:cubicBezTo>
                <a:lnTo>
                  <a:pt x="0" y="5"/>
                </a:lnTo>
                <a:cubicBezTo>
                  <a:pt x="0" y="2"/>
                  <a:pt x="2" y="0"/>
                  <a:pt x="5" y="0"/>
                </a:cubicBezTo>
                <a:close/>
              </a:path>
            </a:pathLst>
          </a:cu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5" name="任意多边形 204"/>
          <p:cNvSpPr/>
          <p:nvPr/>
        </p:nvSpPr>
        <p:spPr>
          <a:xfrm>
            <a:off x="10020240" y="4876920"/>
            <a:ext cx="75960" cy="7596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30960" rIns="90000" bIns="3096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6" name="矩形 205" descr="{&quot;isTemplate&quot;:true,&quot;type&quot;:&quot;text&quot;}"/>
          <p:cNvSpPr/>
          <p:nvPr/>
        </p:nvSpPr>
        <p:spPr>
          <a:xfrm>
            <a:off x="3152880" y="2162160"/>
            <a:ext cx="5895720" cy="70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ct val="140000"/>
              </a:lnSpc>
            </a:pPr>
            <a:r>
              <a:rPr lang="zh-CN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让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IT </a:t>
            </a:r>
            <a:r>
              <a:rPr lang="zh-CN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服务从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消耗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走向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资产</a:t>
            </a:r>
            <a:r>
              <a:rPr lang="en-US" sz="3300" b="1" u="none" strike="noStrike" spc="74">
                <a:solidFill>
                  <a:srgbClr val="FFFFFF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"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07" name="矩形 206" descr="{&quot;isTemplate&quot;:true,&quot;type&quot;:&quot;text&quot;}"/>
          <p:cNvSpPr/>
          <p:nvPr/>
        </p:nvSpPr>
        <p:spPr>
          <a:xfrm>
            <a:off x="2895480" y="3095640"/>
            <a:ext cx="640044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ct val="160000"/>
              </a:lnSpc>
            </a:pPr>
            <a:r>
              <a:rPr lang="zh-CN" sz="1800" b="0" u="none" strike="noStrike">
                <a:solidFill>
                  <a:srgbClr val="FFFFFF">
                    <a:alpha val="85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从个人经验救火，到可运营、可追溯、可演进的体系化服务能力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08" name="圆角矩形 207"/>
          <p:cNvSpPr/>
          <p:nvPr/>
        </p:nvSpPr>
        <p:spPr>
          <a:xfrm>
            <a:off x="5619600" y="3848040"/>
            <a:ext cx="952200" cy="37800"/>
          </a:xfrm>
          <a:prstGeom prst="roundRect">
            <a:avLst>
              <a:gd name="adj" fmla="val 50000"/>
            </a:avLst>
          </a:prstGeom>
          <a:solidFill>
            <a:srgbClr val="FFFFFF">
              <a:alpha val="50000"/>
            </a:srgb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09" name="矩形 208" descr="{&quot;isTemplate&quot;:true,&quot;type&quot;:&quot;text&quot;}"/>
          <p:cNvSpPr/>
          <p:nvPr/>
        </p:nvSpPr>
        <p:spPr>
          <a:xfrm>
            <a:off x="3200400" y="4191120"/>
            <a:ext cx="5790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ServiceDesk Pilot · GOAI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世界人工智能开源大赛 </a:t>
            </a:r>
            <a:r>
              <a:rPr lang="en-US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Agent Infra </a:t>
            </a:r>
            <a:r>
              <a:rPr lang="zh-CN" sz="1500" b="0" u="none" strike="noStrike">
                <a:solidFill>
                  <a:srgbClr val="FFFFFF">
                    <a:alpha val="8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赛道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10" name="矩形 209" descr="{&quot;isTemplate&quot;:true,&quot;type&quot;:&quot;text&quot;}"/>
          <p:cNvSpPr/>
          <p:nvPr/>
        </p:nvSpPr>
        <p:spPr>
          <a:xfrm>
            <a:off x="3381480" y="4514760"/>
            <a:ext cx="5438520" cy="1900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基于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AgentTeams · Skill 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工程化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MCP 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统一接入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RAG 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专家经验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全链路可审计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  <p:sp>
        <p:nvSpPr>
          <p:cNvPr id="211" name="矩形 210" descr="{&quot;isTemplate&quot;:true,&quot;type&quot;:&quot;text&quot;}"/>
          <p:cNvSpPr/>
          <p:nvPr/>
        </p:nvSpPr>
        <p:spPr>
          <a:xfrm>
            <a:off x="10972800" y="6353280"/>
            <a:ext cx="456840" cy="1616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</a:rPr>
              <a:t>18 /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5014</Words>
  <Application>WPS 演示</Application>
  <PresentationFormat/>
  <Paragraphs>480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7" baseType="lpstr">
      <vt:lpstr>Arial</vt:lpstr>
      <vt:lpstr>宋体</vt:lpstr>
      <vt:lpstr>Wingdings</vt:lpstr>
      <vt:lpstr>Calibri</vt:lpstr>
      <vt:lpstr>Symbol</vt:lpstr>
      <vt:lpstr>微软雅黑</vt:lpstr>
      <vt:lpstr>Arial</vt:lpstr>
      <vt:lpstr>Arial Unicode MS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南向北</cp:lastModifiedBy>
  <cp:revision>3</cp:revision>
  <dcterms:created xsi:type="dcterms:W3CDTF">2026-08-11T01:12:00Z</dcterms:created>
  <dcterms:modified xsi:type="dcterms:W3CDTF">2026-08-12T11:55:08Z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38AA6CC6DA5A40999E6145FA302FBA73_12</vt:lpwstr>
  </property>
</Properties>
</file>