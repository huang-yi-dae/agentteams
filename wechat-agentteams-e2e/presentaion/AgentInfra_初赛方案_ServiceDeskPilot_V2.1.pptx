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495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zh-CN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>
              <a:buNone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7pPr>
          </a:lstStyle>
          <a:p>
            <a:pPr marL="431800" indent="-32385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864235" lvl="1" indent="-3238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第二提纲级别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296035" lvl="2" indent="-28829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第三提纲级别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727835" lvl="3" indent="-2159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160270" lvl="4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34.svg"/><Relationship Id="rId15" Type="http://schemas.openxmlformats.org/officeDocument/2006/relationships/image" Target="../media/image33.png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8.svg"/><Relationship Id="rId7" Type="http://schemas.openxmlformats.org/officeDocument/2006/relationships/image" Target="../media/image47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2.svg"/><Relationship Id="rId7" Type="http://schemas.openxmlformats.org/officeDocument/2006/relationships/image" Target="../media/image61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6.svg"/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60000">
                <a:srgbClr val="3B82F6"/>
              </a:gs>
              <a:gs pos="100000">
                <a:srgbClr val="06B6D4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8381880" y="-1143000"/>
            <a:ext cx="4571640" cy="4571640"/>
          </a:xfrm>
          <a:custGeom>
            <a:avLst/>
            <a:gdLst/>
            <a:ahLst/>
            <a:cxnLst/>
            <a:rect l="l" t="t" r="r" b="b"/>
            <a:pathLst>
              <a:path w="480" h="480">
                <a:moveTo>
                  <a:pt x="400" y="419"/>
                </a:moveTo>
                <a:lnTo>
                  <a:pt x="397" y="421"/>
                </a:lnTo>
                <a:lnTo>
                  <a:pt x="393" y="425"/>
                </a:lnTo>
                <a:lnTo>
                  <a:pt x="388" y="429"/>
                </a:lnTo>
                <a:lnTo>
                  <a:pt x="384" y="432"/>
                </a:lnTo>
                <a:lnTo>
                  <a:pt x="379" y="436"/>
                </a:lnTo>
                <a:lnTo>
                  <a:pt x="374" y="439"/>
                </a:lnTo>
                <a:lnTo>
                  <a:pt x="369" y="442"/>
                </a:lnTo>
                <a:lnTo>
                  <a:pt x="364" y="445"/>
                </a:ln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400" y="12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-571680" y="4381560"/>
            <a:ext cx="4000320" cy="4000320"/>
          </a:xfrm>
          <a:custGeom>
            <a:avLst/>
            <a:gdLst/>
            <a:ahLst/>
            <a:cxnLst/>
            <a:rect l="l" t="t" r="r" b="b"/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4" y="260"/>
                </a:lnTo>
                <a:lnTo>
                  <a:pt x="60" y="260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0363320" y="1714680"/>
            <a:ext cx="114120" cy="11412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9067680" y="4000680"/>
            <a:ext cx="75960" cy="7596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30960" rIns="90000" bIns="309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62120" y="1838160"/>
            <a:ext cx="418680" cy="418680"/>
          </a:xfrm>
          <a:prstGeom prst="roundRect">
            <a:avLst>
              <a:gd name="adj" fmla="val 27273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8" name="图片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160" y="1933560"/>
            <a:ext cx="228240" cy="228240"/>
          </a:xfrm>
          <a:prstGeom prst="rect">
            <a:avLst/>
          </a:prstGeom>
          <a:noFill/>
        </p:spPr>
      </p:pic>
      <p:sp>
        <p:nvSpPr>
          <p:cNvPr id="9" name="矩形 8" descr="{&quot;isTemplate&quot;:true,&quot;type&quot;:&quot;text&quot;}"/>
          <p:cNvSpPr/>
          <p:nvPr/>
        </p:nvSpPr>
        <p:spPr>
          <a:xfrm>
            <a:off x="1295280" y="1933560"/>
            <a:ext cx="5514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GOAI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世界人工智能开源大赛 </a:t>
            </a: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新智基座 </a:t>
            </a: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| Agent Infra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" name="矩形 9" descr="{&quot;isTemplate&quot;:true,&quot;type&quot;:&quot;text&quot;}"/>
          <p:cNvSpPr/>
          <p:nvPr/>
        </p:nvSpPr>
        <p:spPr>
          <a:xfrm>
            <a:off x="762120" y="2638440"/>
            <a:ext cx="1066752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5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" name="矩形 10" descr="{&quot;isTemplate&quot;:true,&quot;type&quot;:&quot;text&quot;}"/>
          <p:cNvSpPr/>
          <p:nvPr/>
        </p:nvSpPr>
        <p:spPr>
          <a:xfrm>
            <a:off x="762120" y="3543480"/>
            <a:ext cx="1066752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中小企业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服务台多 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智能处置系统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62120" y="4352760"/>
            <a:ext cx="114264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" name="矩形 12" descr="{&quot;isTemplate&quot;:true,&quot;type&quot;:&quot;text&quot;}"/>
          <p:cNvSpPr/>
          <p:nvPr/>
        </p:nvSpPr>
        <p:spPr>
          <a:xfrm>
            <a:off x="762120" y="4619520"/>
            <a:ext cx="106675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·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面向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20~500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人无专职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中小企业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群报到智能处置闭环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" name="矩形 13" descr="{&quot;isTemplate&quot;:true,&quot;type&quot;:&quot;text&quot;}"/>
          <p:cNvSpPr/>
          <p:nvPr/>
        </p:nvSpPr>
        <p:spPr>
          <a:xfrm>
            <a:off x="762120" y="6210360"/>
            <a:ext cx="20476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初赛方案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V2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赛题格式完整版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" name="矩形 14" descr="{&quot;isTemplate&quot;:true,&quot;type&quot;:&quot;text&quot;}"/>
          <p:cNvSpPr/>
          <p:nvPr/>
        </p:nvSpPr>
        <p:spPr>
          <a:xfrm>
            <a:off x="7800840" y="6210360"/>
            <a:ext cx="990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" name="矩形 15" descr="{&quot;isTemplate&quot;:true,&quot;type&quot;:&quot;text&quot;}"/>
          <p:cNvSpPr/>
          <p:nvPr/>
        </p:nvSpPr>
        <p:spPr>
          <a:xfrm>
            <a:off x="9020160" y="6210360"/>
            <a:ext cx="799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工程化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" name="矩形 16" descr="{&quot;isTemplate&quot;:true,&quot;type&quot;:&quot;text&quot;}"/>
          <p:cNvSpPr/>
          <p:nvPr/>
        </p:nvSpPr>
        <p:spPr>
          <a:xfrm>
            <a:off x="10049040" y="6210360"/>
            <a:ext cx="13806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· RAG ·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可观测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 21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4" name="圆角矩形 213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15" name="图片 21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216" name="矩形 215" descr="{&quot;isTemplate&quot;:true,&quot;type&quot;:&quot;text&quot;}"/>
          <p:cNvSpPr/>
          <p:nvPr/>
        </p:nvSpPr>
        <p:spPr>
          <a:xfrm>
            <a:off x="1238400" y="343080"/>
            <a:ext cx="362880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P0 ·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一页纸速览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7" name="矩形 216" descr="{&quot;isTemplate&quot;:true,&quot;type&quot;:&quot;text&quot;}"/>
          <p:cNvSpPr/>
          <p:nvPr/>
        </p:nvSpPr>
        <p:spPr>
          <a:xfrm>
            <a:off x="1238400" y="809640"/>
            <a:ext cx="36288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作品简介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— 项目名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创新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价值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进展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8" name="矩形 217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609480" y="1143000"/>
            <a:ext cx="3152520" cy="1657080"/>
          </a:xfrm>
          <a:prstGeom prst="roundRect">
            <a:avLst>
              <a:gd name="adj" fmla="val 6897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20" name="图片 219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200" y="1324080"/>
            <a:ext cx="190080" cy="190080"/>
          </a:xfrm>
          <a:prstGeom prst="rect">
            <a:avLst/>
          </a:prstGeom>
          <a:noFill/>
        </p:spPr>
      </p:pic>
      <p:sp>
        <p:nvSpPr>
          <p:cNvPr id="221" name="矩形 220" descr="{&quot;isTemplate&quot;:true,&quot;type&quot;:&quot;text&quot;}"/>
          <p:cNvSpPr/>
          <p:nvPr/>
        </p:nvSpPr>
        <p:spPr>
          <a:xfrm>
            <a:off x="1047600" y="131436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项目名称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2" name="矩形 221" descr="{&quot;isTemplate&quot;:true,&quot;type&quot;:&quot;text&quot;}"/>
          <p:cNvSpPr/>
          <p:nvPr/>
        </p:nvSpPr>
        <p:spPr>
          <a:xfrm>
            <a:off x="781200" y="1600200"/>
            <a:ext cx="2809440" cy="1028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：中小企业 </a:t>
            </a: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服务台多 </a:t>
            </a: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智能处置系统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3914640" y="1143000"/>
            <a:ext cx="3142800" cy="1657080"/>
          </a:xfrm>
          <a:prstGeom prst="roundRect">
            <a:avLst>
              <a:gd name="adj" fmla="val 6897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24" name="图片 22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6360" y="1324080"/>
            <a:ext cx="190080" cy="190080"/>
          </a:xfrm>
          <a:prstGeom prst="rect">
            <a:avLst/>
          </a:prstGeom>
          <a:noFill/>
        </p:spPr>
      </p:pic>
      <p:sp>
        <p:nvSpPr>
          <p:cNvPr id="225" name="矩形 224" descr="{&quot;isTemplate&quot;:true,&quot;type&quot;:&quot;text&quot;}"/>
          <p:cNvSpPr/>
          <p:nvPr/>
        </p:nvSpPr>
        <p:spPr>
          <a:xfrm>
            <a:off x="4352760" y="131436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目标用户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6" name="矩形 225" descr="{&quot;isTemplate&quot;:true,&quot;type&quot;:&quot;text&quot;}"/>
          <p:cNvSpPr/>
          <p:nvPr/>
        </p:nvSpPr>
        <p:spPr>
          <a:xfrm>
            <a:off x="4086360" y="1600200"/>
            <a:ext cx="2800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20~500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人中小企业，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1~2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人兼任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，靠企业微信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飞书群报障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609480" y="2952720"/>
            <a:ext cx="6447960" cy="1266480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28" name="图片 227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200" y="3133800"/>
            <a:ext cx="190080" cy="190080"/>
          </a:xfrm>
          <a:prstGeom prst="rect">
            <a:avLst/>
          </a:prstGeom>
          <a:noFill/>
        </p:spPr>
      </p:pic>
      <p:sp>
        <p:nvSpPr>
          <p:cNvPr id="229" name="矩形 228" descr="{&quot;isTemplate&quot;:true,&quot;type&quot;:&quot;text&quot;}"/>
          <p:cNvSpPr/>
          <p:nvPr/>
        </p:nvSpPr>
        <p:spPr>
          <a:xfrm>
            <a:off x="1047600" y="3124080"/>
            <a:ext cx="856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问题与场景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0" name="矩形 229" descr="{&quot;isTemplate&quot;:true,&quot;type&quot;:&quot;text&quot;}"/>
          <p:cNvSpPr/>
          <p:nvPr/>
        </p:nvSpPr>
        <p:spPr>
          <a:xfrm>
            <a:off x="781200" y="3409920"/>
            <a:ext cx="61052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权限数据分散在老系统且多无开放接口；专家经验锁在人员记忆中；报障入口只有微信群，无服务台化闭环。账户异常是占比最高的高频场景，先收敛做透。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609480" y="4371840"/>
            <a:ext cx="6447960" cy="1590480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2" name="图片 231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200" y="4552920"/>
            <a:ext cx="190080" cy="190080"/>
          </a:xfrm>
          <a:prstGeom prst="rect">
            <a:avLst/>
          </a:prstGeom>
          <a:noFill/>
        </p:spPr>
      </p:pic>
      <p:sp>
        <p:nvSpPr>
          <p:cNvPr id="233" name="矩形 232" descr="{&quot;isTemplate&quot;:true,&quot;type&quot;:&quot;text&quot;}"/>
          <p:cNvSpPr/>
          <p:nvPr/>
        </p:nvSpPr>
        <p:spPr>
          <a:xfrm>
            <a:off x="1047600" y="454356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核心解决方案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4" name="矩形 233" descr="{&quot;isTemplate&quot;:true,&quot;type&quot;:&quot;text&quot;}"/>
          <p:cNvSpPr/>
          <p:nvPr/>
        </p:nvSpPr>
        <p:spPr>
          <a:xfrm>
            <a:off x="781200" y="4829040"/>
            <a:ext cx="6105240" cy="96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构建「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入口 → 分诊 → 知识检索 → 风险分级 → 低风险自动执行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无接口老系统人工留证 → 验证与回流」最小闭环；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管业务逻辑，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管系统接入，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管专家经验。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5" name="圆角矩形 234"/>
          <p:cNvSpPr/>
          <p:nvPr/>
        </p:nvSpPr>
        <p:spPr>
          <a:xfrm>
            <a:off x="7286760" y="1143000"/>
            <a:ext cx="4295520" cy="2085480"/>
          </a:xfrm>
          <a:prstGeom prst="roundRect">
            <a:avLst>
              <a:gd name="adj" fmla="val 5479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6" name="图片 235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58120" y="1324080"/>
            <a:ext cx="190080" cy="190080"/>
          </a:xfrm>
          <a:prstGeom prst="rect">
            <a:avLst/>
          </a:prstGeom>
          <a:noFill/>
        </p:spPr>
      </p:pic>
      <p:sp>
        <p:nvSpPr>
          <p:cNvPr id="237" name="矩形 236" descr="{&quot;isTemplate&quot;:true,&quot;type&quot;:&quot;text&quot;}"/>
          <p:cNvSpPr/>
          <p:nvPr/>
        </p:nvSpPr>
        <p:spPr>
          <a:xfrm>
            <a:off x="7724880" y="1314360"/>
            <a:ext cx="1199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创新点与差异化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8" name="矩形 237" descr="{&quot;isTemplate&quot;:true,&quot;type&quot;:&quot;text&quot;}"/>
          <p:cNvSpPr/>
          <p:nvPr/>
        </p:nvSpPr>
        <p:spPr>
          <a:xfrm>
            <a:off x="7458120" y="1600200"/>
            <a:ext cx="3952440" cy="145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以账户异常为主线而非泛 </a:t>
            </a: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ITSM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，场景聚焦可落地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显式设计「无接口老系统」人工执行留证过渡路径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微信群消息标准化为可审计服务台事件流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L0-L3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风险分层：低风险自动、中风险审批、高风险人工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9" name="圆角矩形 238"/>
          <p:cNvSpPr/>
          <p:nvPr/>
        </p:nvSpPr>
        <p:spPr>
          <a:xfrm>
            <a:off x="7286760" y="3381480"/>
            <a:ext cx="4295520" cy="12189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40" name="图片 239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58120" y="3562200"/>
            <a:ext cx="190080" cy="190080"/>
          </a:xfrm>
          <a:prstGeom prst="rect">
            <a:avLst/>
          </a:prstGeom>
          <a:noFill/>
        </p:spPr>
      </p:pic>
      <p:sp>
        <p:nvSpPr>
          <p:cNvPr id="241" name="矩形 240" descr="{&quot;isTemplate&quot;:true,&quot;type&quot;:&quot;text&quot;}"/>
          <p:cNvSpPr/>
          <p:nvPr/>
        </p:nvSpPr>
        <p:spPr>
          <a:xfrm>
            <a:off x="7724880" y="3552840"/>
            <a:ext cx="12189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复用价值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2" name="矩形 241" descr="{&quot;isTemplate&quot;:true,&quot;type&quot;:&quot;text&quot;}"/>
          <p:cNvSpPr/>
          <p:nvPr/>
        </p:nvSpPr>
        <p:spPr>
          <a:xfrm>
            <a:off x="7458120" y="3838680"/>
            <a:ext cx="3952440" cy="590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个跨场景通用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+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契约，可迁移到客服、售后、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HR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、行政等入口型场景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7286760" y="4753080"/>
            <a:ext cx="4295520" cy="150444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44" name="图片 243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58120" y="4933800"/>
            <a:ext cx="190080" cy="190080"/>
          </a:xfrm>
          <a:prstGeom prst="rect">
            <a:avLst/>
          </a:prstGeom>
          <a:noFill/>
        </p:spPr>
      </p:pic>
      <p:sp>
        <p:nvSpPr>
          <p:cNvPr id="245" name="矩形 244" descr="{&quot;isTemplate&quot;:true,&quot;type&quot;:&quot;text&quot;}"/>
          <p:cNvSpPr/>
          <p:nvPr/>
        </p:nvSpPr>
        <p:spPr>
          <a:xfrm>
            <a:off x="7724880" y="492444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6" name="矩形 245" descr="{&quot;isTemplate&quot;:true,&quot;type&quot;:&quot;text&quot;}"/>
          <p:cNvSpPr/>
          <p:nvPr/>
        </p:nvSpPr>
        <p:spPr>
          <a:xfrm>
            <a:off x="7458120" y="5210280"/>
            <a:ext cx="395244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赛题格式完整版：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Agent Identity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清单、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完整契约、合规披露完成；下一步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Demo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运行证据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7" name="矩形 246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8" name="矩形 247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矩形 24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1" name="圆角矩形 250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52" name="图片 25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253" name="矩形 252" descr="{&quot;isTemplate&quot;:true,&quot;type&quot;:&quot;text&quot;}"/>
          <p:cNvSpPr/>
          <p:nvPr/>
        </p:nvSpPr>
        <p:spPr>
          <a:xfrm>
            <a:off x="1238400" y="343080"/>
            <a:ext cx="8186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4" name="矩形 253" descr="{&quot;isTemplate&quot;:true,&quot;type&quot;:&quot;text&quot;}"/>
          <p:cNvSpPr/>
          <p:nvPr/>
        </p:nvSpPr>
        <p:spPr>
          <a:xfrm>
            <a:off x="1238400" y="809640"/>
            <a:ext cx="818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5" name="矩形 254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6" name="圆角矩形 255"/>
          <p:cNvSpPr/>
          <p:nvPr/>
        </p:nvSpPr>
        <p:spPr>
          <a:xfrm>
            <a:off x="609480" y="1847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7" name="矩形 256" descr="{&quot;isTemplate&quot;:true,&quot;type&quot;:&quot;text&quot;}"/>
          <p:cNvSpPr/>
          <p:nvPr/>
        </p:nvSpPr>
        <p:spPr>
          <a:xfrm>
            <a:off x="781200" y="2076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58" name="图片 257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6080" y="2124000"/>
            <a:ext cx="247320" cy="247320"/>
          </a:xfrm>
          <a:prstGeom prst="rect">
            <a:avLst/>
          </a:prstGeom>
          <a:noFill/>
        </p:spPr>
      </p:pic>
      <p:sp>
        <p:nvSpPr>
          <p:cNvPr id="259" name="矩形 258" descr="{&quot;isTemplate&quot;:true,&quot;type&quot;:&quot;text&quot;}"/>
          <p:cNvSpPr/>
          <p:nvPr/>
        </p:nvSpPr>
        <p:spPr>
          <a:xfrm>
            <a:off x="1905120" y="1981080"/>
            <a:ext cx="13806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0" name="矩形 259" descr="{&quot;isTemplate&quot;:true,&quot;type&quot;:&quot;text&quot;}"/>
          <p:cNvSpPr/>
          <p:nvPr/>
        </p:nvSpPr>
        <p:spPr>
          <a:xfrm>
            <a:off x="1905120" y="2333520"/>
            <a:ext cx="13806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痛点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价值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可复制性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609480" y="2828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2" name="矩形 261" descr="{&quot;isTemplate&quot;:true,&quot;type&quot;:&quot;text&quot;}"/>
          <p:cNvSpPr/>
          <p:nvPr/>
        </p:nvSpPr>
        <p:spPr>
          <a:xfrm>
            <a:off x="781200" y="3057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63" name="图片 26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6080" y="3105000"/>
            <a:ext cx="247320" cy="247320"/>
          </a:xfrm>
          <a:prstGeom prst="rect">
            <a:avLst/>
          </a:prstGeom>
          <a:noFill/>
        </p:spPr>
      </p:pic>
      <p:sp>
        <p:nvSpPr>
          <p:cNvPr id="264" name="矩形 263" descr="{&quot;isTemplate&quot;:true,&quot;type&quot;:&quot;text&quot;}"/>
          <p:cNvSpPr/>
          <p:nvPr/>
        </p:nvSpPr>
        <p:spPr>
          <a:xfrm>
            <a:off x="1905120" y="2962440"/>
            <a:ext cx="14094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5" name="矩形 264" descr="{&quot;isTemplate&quot;:true,&quot;type&quot;:&quot;text&quot;}"/>
          <p:cNvSpPr/>
          <p:nvPr/>
        </p:nvSpPr>
        <p:spPr>
          <a:xfrm>
            <a:off x="1905120" y="3314880"/>
            <a:ext cx="14094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五层架构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端到端闭环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6" name="圆角矩形 265"/>
          <p:cNvSpPr/>
          <p:nvPr/>
        </p:nvSpPr>
        <p:spPr>
          <a:xfrm>
            <a:off x="609480" y="3809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7" name="矩形 266" descr="{&quot;isTemplate&quot;:true,&quot;type&quot;:&quot;text&quot;}"/>
          <p:cNvSpPr/>
          <p:nvPr/>
        </p:nvSpPr>
        <p:spPr>
          <a:xfrm>
            <a:off x="781200" y="4038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68" name="图片 267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6080" y="4086360"/>
            <a:ext cx="247320" cy="247320"/>
          </a:xfrm>
          <a:prstGeom prst="rect">
            <a:avLst/>
          </a:prstGeom>
          <a:noFill/>
        </p:spPr>
      </p:pic>
      <p:sp>
        <p:nvSpPr>
          <p:cNvPr id="269" name="矩形 268" descr="{&quot;isTemplate&quot;:true,&quot;type&quot;:&quot;text&quot;}"/>
          <p:cNvSpPr/>
          <p:nvPr/>
        </p:nvSpPr>
        <p:spPr>
          <a:xfrm>
            <a:off x="1905120" y="3943440"/>
            <a:ext cx="1819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协同设计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0" name="矩形 269" descr="{&quot;isTemplate&quot;:true,&quot;type&quot;:&quot;text&quot;}"/>
          <p:cNvSpPr/>
          <p:nvPr/>
        </p:nvSpPr>
        <p:spPr>
          <a:xfrm>
            <a:off x="1905120" y="4295880"/>
            <a:ext cx="1819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角色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任务拆解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609480" y="479124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2" name="矩形 271" descr="{&quot;isTemplate&quot;:true,&quot;type&quot;:&quot;text&quot;}"/>
          <p:cNvSpPr/>
          <p:nvPr/>
        </p:nvSpPr>
        <p:spPr>
          <a:xfrm>
            <a:off x="781200" y="501984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73" name="图片 272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6080" y="5067360"/>
            <a:ext cx="247320" cy="247320"/>
          </a:xfrm>
          <a:prstGeom prst="rect">
            <a:avLst/>
          </a:prstGeom>
          <a:noFill/>
        </p:spPr>
      </p:pic>
      <p:sp>
        <p:nvSpPr>
          <p:cNvPr id="274" name="矩形 273" descr="{&quot;isTemplate&quot;:true,&quot;type&quot;:&quot;text&quot;}"/>
          <p:cNvSpPr/>
          <p:nvPr/>
        </p:nvSpPr>
        <p:spPr>
          <a:xfrm>
            <a:off x="1905120" y="4924440"/>
            <a:ext cx="17143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5" name="矩形 274" descr="{&quot;isTemplate&quot;:true,&quot;type&quot;:&quot;text&quot;}"/>
          <p:cNvSpPr/>
          <p:nvPr/>
        </p:nvSpPr>
        <p:spPr>
          <a:xfrm>
            <a:off x="1905120" y="5276880"/>
            <a:ext cx="17143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Skill · 9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通用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契约规范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6" name="圆角矩形 275"/>
          <p:cNvSpPr/>
          <p:nvPr/>
        </p:nvSpPr>
        <p:spPr>
          <a:xfrm>
            <a:off x="6286680" y="1743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7" name="矩形 276" descr="{&quot;isTemplate&quot;:true,&quot;type&quot;:&quot;text&quot;}"/>
          <p:cNvSpPr/>
          <p:nvPr/>
        </p:nvSpPr>
        <p:spPr>
          <a:xfrm>
            <a:off x="6458040" y="1971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78" name="图片 277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62920" y="2019240"/>
            <a:ext cx="247320" cy="247320"/>
          </a:xfrm>
          <a:prstGeom prst="rect">
            <a:avLst/>
          </a:prstGeom>
          <a:noFill/>
        </p:spPr>
      </p:pic>
      <p:sp>
        <p:nvSpPr>
          <p:cNvPr id="279" name="矩形 278" descr="{&quot;isTemplate&quot;:true,&quot;type&quot;:&quot;text&quot;}"/>
          <p:cNvSpPr/>
          <p:nvPr/>
        </p:nvSpPr>
        <p:spPr>
          <a:xfrm>
            <a:off x="7581960" y="1876320"/>
            <a:ext cx="20952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工程落地与安全可审计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0" name="矩形 279" descr="{&quot;isTemplate&quot;:true,&quot;type&quot;:&quot;text&quot;}"/>
          <p:cNvSpPr/>
          <p:nvPr/>
        </p:nvSpPr>
        <p:spPr>
          <a:xfrm>
            <a:off x="7581960" y="2228760"/>
            <a:ext cx="20952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证据链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L0-L3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1" name="圆角矩形 280"/>
          <p:cNvSpPr/>
          <p:nvPr/>
        </p:nvSpPr>
        <p:spPr>
          <a:xfrm>
            <a:off x="6286680" y="2724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2" name="矩形 281" descr="{&quot;isTemplate&quot;:true,&quot;type&quot;:&quot;text&quot;}"/>
          <p:cNvSpPr/>
          <p:nvPr/>
        </p:nvSpPr>
        <p:spPr>
          <a:xfrm>
            <a:off x="6458040" y="2952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83" name="图片 282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62920" y="3000240"/>
            <a:ext cx="247320" cy="247320"/>
          </a:xfrm>
          <a:prstGeom prst="rect">
            <a:avLst/>
          </a:prstGeom>
          <a:noFill/>
        </p:spPr>
      </p:pic>
      <p:sp>
        <p:nvSpPr>
          <p:cNvPr id="284" name="矩形 283" descr="{&quot;isTemplate&quot;:true,&quot;type&quot;:&quot;text&quot;}"/>
          <p:cNvSpPr/>
          <p:nvPr/>
        </p:nvSpPr>
        <p:spPr>
          <a:xfrm>
            <a:off x="7581960" y="2857680"/>
            <a:ext cx="14857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开源计划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5" name="矩形 284" descr="{&quot;isTemplate&quot;:true,&quot;type&quot;:&quot;text&quot;}"/>
          <p:cNvSpPr/>
          <p:nvPr/>
        </p:nvSpPr>
        <p:spPr>
          <a:xfrm>
            <a:off x="7581960" y="3209760"/>
            <a:ext cx="1485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可复用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协议合规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6286680" y="3705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7" name="矩形 286" descr="{&quot;isTemplate&quot;:true,&quot;type&quot;:&quot;text&quot;}"/>
          <p:cNvSpPr/>
          <p:nvPr/>
        </p:nvSpPr>
        <p:spPr>
          <a:xfrm>
            <a:off x="6458040" y="3933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88" name="图片 287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62920" y="3981600"/>
            <a:ext cx="247320" cy="247320"/>
          </a:xfrm>
          <a:prstGeom prst="rect">
            <a:avLst/>
          </a:prstGeom>
          <a:noFill/>
        </p:spPr>
      </p:pic>
      <p:sp>
        <p:nvSpPr>
          <p:cNvPr id="289" name="矩形 288" descr="{&quot;isTemplate&quot;:true,&quot;type&quot;:&quot;text&quot;}"/>
          <p:cNvSpPr/>
          <p:nvPr/>
        </p:nvSpPr>
        <p:spPr>
          <a:xfrm>
            <a:off x="7581960" y="3838680"/>
            <a:ext cx="15235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落地计划与进展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0" name="矩形 289" descr="{&quot;isTemplate&quot;:true,&quot;type&quot;:&quot;text&quot;}"/>
          <p:cNvSpPr/>
          <p:nvPr/>
        </p:nvSpPr>
        <p:spPr>
          <a:xfrm>
            <a:off x="7581960" y="4191120"/>
            <a:ext cx="1523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现状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V3/V4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路线图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6286680" y="4781520"/>
            <a:ext cx="5295600" cy="914040"/>
          </a:xfrm>
          <a:prstGeom prst="roundRect">
            <a:avLst>
              <a:gd name="adj" fmla="val 12500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2" name="矩形 291" descr="{&quot;isTemplate&quot;:true,&quot;type&quot;:&quot;text&quot;}"/>
          <p:cNvSpPr/>
          <p:nvPr/>
        </p:nvSpPr>
        <p:spPr>
          <a:xfrm>
            <a:off x="6458040" y="4933800"/>
            <a:ext cx="495252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4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章节对应赛题评审维度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3" name="矩形 292" descr="{&quot;isTemplate&quot;:true,&quot;type&quot;:&quot;text&quot;}"/>
          <p:cNvSpPr/>
          <p:nvPr/>
        </p:nvSpPr>
        <p:spPr>
          <a:xfrm>
            <a:off x="6458040" y="5286240"/>
            <a:ext cx="495252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 · Skill 25%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5%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4" name="矩形 293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5" name="矩形 294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 29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8" name="任意多边形 297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9" name="任意多边形 298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0" name="圆角矩形 299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01" name="图片 30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302" name="矩形 301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3" name="矩形 302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4" name="矩形 303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5" name="矩形 304" descr="{&quot;isTemplate&quot;:true,&quot;type&quot;:&quot;text&quot;}"/>
          <p:cNvSpPr/>
          <p:nvPr/>
        </p:nvSpPr>
        <p:spPr>
          <a:xfrm>
            <a:off x="2695680" y="3371760"/>
            <a:ext cx="25142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场景价值与行业可复制性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6" name="圆角矩形 305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7" name="矩形 306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目标用户与核心痛点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真实场景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可量化价值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行业可复制性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差异化优势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8" name="矩形 307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04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矩形 30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11" name="圆角矩形 310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12" name="图片 31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313" name="矩形 312" descr="{&quot;isTemplate&quot;:true,&quot;type&quot;:&quot;text&quot;}"/>
          <p:cNvSpPr/>
          <p:nvPr/>
        </p:nvSpPr>
        <p:spPr>
          <a:xfrm>
            <a:off x="1238400" y="343080"/>
            <a:ext cx="50479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场景与价值：中小企业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服务台之困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4" name="矩形 313" descr="{&quot;isTemplate&quot;:true,&quot;type&quot;:&quot;text&quot;}"/>
          <p:cNvSpPr/>
          <p:nvPr/>
        </p:nvSpPr>
        <p:spPr>
          <a:xfrm>
            <a:off x="1238400" y="809640"/>
            <a:ext cx="5047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5" name="矩形 314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6" name="圆角矩形 315"/>
          <p:cNvSpPr/>
          <p:nvPr/>
        </p:nvSpPr>
        <p:spPr>
          <a:xfrm>
            <a:off x="609480" y="1143000"/>
            <a:ext cx="7162560" cy="5171760"/>
          </a:xfrm>
          <a:prstGeom prst="roundRect">
            <a:avLst>
              <a:gd name="adj" fmla="val 2210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17" name="图片 31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880" y="1238400"/>
            <a:ext cx="6972120" cy="4981320"/>
          </a:xfrm>
          <a:prstGeom prst="rect">
            <a:avLst/>
          </a:prstGeom>
          <a:noFill/>
        </p:spPr>
      </p:pic>
      <p:sp>
        <p:nvSpPr>
          <p:cNvPr id="318" name="圆角矩形 317"/>
          <p:cNvSpPr/>
          <p:nvPr/>
        </p:nvSpPr>
        <p:spPr>
          <a:xfrm>
            <a:off x="8001000" y="114300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19" name="矩形 318" descr="{&quot;isTemplate&quot;:true,&quot;type&quot;:&quot;text&quot;}"/>
          <p:cNvSpPr/>
          <p:nvPr/>
        </p:nvSpPr>
        <p:spPr>
          <a:xfrm>
            <a:off x="8115480" y="125748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目标用户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0" name="矩形 319" descr="{&quot;isTemplate&quot;:true,&quot;type&quot;:&quot;text&quot;}"/>
          <p:cNvSpPr/>
          <p:nvPr/>
        </p:nvSpPr>
        <p:spPr>
          <a:xfrm>
            <a:off x="8115480" y="149544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20~500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人中小企业，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1~2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人兼任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，以企业微信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飞书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钉钉群为主要报障入口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1" name="圆角矩形 320"/>
          <p:cNvSpPr/>
          <p:nvPr/>
        </p:nvSpPr>
        <p:spPr>
          <a:xfrm>
            <a:off x="8001000" y="221940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2" name="矩形 321" descr="{&quot;isTemplate&quot;:true,&quot;type&quot;:&quot;text&quot;}"/>
          <p:cNvSpPr/>
          <p:nvPr/>
        </p:nvSpPr>
        <p:spPr>
          <a:xfrm>
            <a:off x="8115480" y="233352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核心场景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3" name="矩形 322" descr="{&quot;isTemplate&quot;:true,&quot;type&quot;:&quot;text&quot;}"/>
          <p:cNvSpPr/>
          <p:nvPr/>
        </p:nvSpPr>
        <p:spPr>
          <a:xfrm>
            <a:off x="8115480" y="257184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账户与访问异常：账号锁定、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MFA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丢失、密码错误、异地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新设备登录、疑似盗号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4" name="圆角矩形 323"/>
          <p:cNvSpPr/>
          <p:nvPr/>
        </p:nvSpPr>
        <p:spPr>
          <a:xfrm>
            <a:off x="8001000" y="3295800"/>
            <a:ext cx="3580920" cy="1238040"/>
          </a:xfrm>
          <a:prstGeom prst="roundRect">
            <a:avLst>
              <a:gd name="adj" fmla="val 7692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5" name="矩形 324" descr="{&quot;isTemplate&quot;:true,&quot;type&quot;:&quot;text&quot;}"/>
          <p:cNvSpPr/>
          <p:nvPr/>
        </p:nvSpPr>
        <p:spPr>
          <a:xfrm>
            <a:off x="8115480" y="340992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业务价值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6" name="矩形 325" descr="{&quot;isTemplate&quot;:true,&quot;type&quot;:&quot;text&quot;}"/>
          <p:cNvSpPr/>
          <p:nvPr/>
        </p:nvSpPr>
        <p:spPr>
          <a:xfrm>
            <a:off x="8115480" y="3648240"/>
            <a:ext cx="33523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7x24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自动接管常见账户异常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拦截高频重复请求，释放兼职 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个人救火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走向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可追溯、可复盘体系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7" name="圆角矩形 326"/>
          <p:cNvSpPr/>
          <p:nvPr/>
        </p:nvSpPr>
        <p:spPr>
          <a:xfrm>
            <a:off x="8001000" y="462924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8" name="矩形 327" descr="{&quot;isTemplate&quot;:true,&quot;type&quot;:&quot;text&quot;}"/>
          <p:cNvSpPr/>
          <p:nvPr/>
        </p:nvSpPr>
        <p:spPr>
          <a:xfrm>
            <a:off x="8115480" y="474336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行业可复制性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9" name="矩形 328" descr="{&quot;isTemplate&quot;:true,&quot;type&quot;:&quot;text&quot;}"/>
          <p:cNvSpPr/>
          <p:nvPr/>
        </p:nvSpPr>
        <p:spPr>
          <a:xfrm>
            <a:off x="8115480" y="498168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账户异常是种子场景；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个通用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+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契约可复制到客服、售后、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HR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、行政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0" name="矩形 329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1" name="矩形 330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4" name="任意多边形 333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5" name="任意多边形 334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6" name="圆角矩形 335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37" name="图片 336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338" name="矩形 337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9" name="矩形 338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0" name="矩形 339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1" name="矩形 340" descr="{&quot;isTemplate&quot;:true,&quot;type&quot;:&quot;text&quot;}"/>
          <p:cNvSpPr/>
          <p:nvPr/>
        </p:nvSpPr>
        <p:spPr>
          <a:xfrm>
            <a:off x="2695680" y="3371760"/>
            <a:ext cx="31237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协同与自主闭环能力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2" name="圆角矩形 341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3" name="矩形 342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整体架构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端到端主流程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关键技术选型必要性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4" name="矩形 343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06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矩形 34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7" name="圆角矩形 346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48" name="图片 34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349" name="矩形 348" descr="{&quot;isTemplate&quot;:true,&quot;type&quot;:&quot;text&quot;}"/>
          <p:cNvSpPr/>
          <p:nvPr/>
        </p:nvSpPr>
        <p:spPr>
          <a:xfrm>
            <a:off x="1238400" y="343080"/>
            <a:ext cx="45716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方案总览：五层架构与端到端闭环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0" name="矩形 349" descr="{&quot;isTemplate&quot;:true,&quot;type&quot;:&quot;text&quot;}"/>
          <p:cNvSpPr/>
          <p:nvPr/>
        </p:nvSpPr>
        <p:spPr>
          <a:xfrm>
            <a:off x="1238400" y="809640"/>
            <a:ext cx="4571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1" name="矩形 350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09480" y="114300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3" name="圆角矩形 352"/>
          <p:cNvSpPr/>
          <p:nvPr/>
        </p:nvSpPr>
        <p:spPr>
          <a:xfrm>
            <a:off x="800280" y="123840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FFFFFF">
              <a:alpha val="1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4" name="矩形 353" descr="{&quot;isTemplate&quot;:true,&quot;type&quot;:&quot;text&quot;}"/>
          <p:cNvSpPr/>
          <p:nvPr/>
        </p:nvSpPr>
        <p:spPr>
          <a:xfrm>
            <a:off x="1076400" y="132408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用户入口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5" name="矩形 354" descr="{&quot;isTemplate&quot;:true,&quot;type&quot;:&quot;text&quot;}"/>
          <p:cNvSpPr/>
          <p:nvPr/>
        </p:nvSpPr>
        <p:spPr>
          <a:xfrm>
            <a:off x="2190600" y="1257480"/>
            <a:ext cx="458100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企业微信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飞书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钉钉群 ——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群消息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截图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报障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09480" y="180972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800280" y="190512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8" name="矩形 357" descr="{&quot;isTemplate&quot;:true,&quot;type&quot;:&quot;text&quot;}"/>
          <p:cNvSpPr/>
          <p:nvPr/>
        </p:nvSpPr>
        <p:spPr>
          <a:xfrm>
            <a:off x="1162080" y="199080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底座层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9" name="矩形 358" descr="{&quot;isTemplate&quot;:true,&quot;type&quot;:&quot;text&quot;}"/>
          <p:cNvSpPr/>
          <p:nvPr/>
        </p:nvSpPr>
        <p:spPr>
          <a:xfrm>
            <a:off x="2190600" y="1924200"/>
            <a:ext cx="810540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（角色编排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任务拆解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上下文传递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状态追踪）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Matrix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通信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Higress AI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网关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0" name="圆角矩形 359"/>
          <p:cNvSpPr/>
          <p:nvPr/>
        </p:nvSpPr>
        <p:spPr>
          <a:xfrm>
            <a:off x="609480" y="247644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1" name="圆角矩形 360"/>
          <p:cNvSpPr/>
          <p:nvPr/>
        </p:nvSpPr>
        <p:spPr>
          <a:xfrm>
            <a:off x="800280" y="257184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2" name="矩形 361" descr="{&quot;isTemplate&quot;:true,&quot;type&quot;:&quot;text&quot;}"/>
          <p:cNvSpPr/>
          <p:nvPr/>
        </p:nvSpPr>
        <p:spPr>
          <a:xfrm>
            <a:off x="1162080" y="265752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编排层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3" name="矩形 362" descr="{&quot;isTemplate&quot;:true,&quot;type&quot;:&quot;text&quot;}"/>
          <p:cNvSpPr/>
          <p:nvPr/>
        </p:nvSpPr>
        <p:spPr>
          <a:xfrm>
            <a:off x="2190600" y="2590920"/>
            <a:ext cx="7133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TeamLeader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：任务拆解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角色编排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状态流转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升级策略（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协同基点）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4" name="圆角矩形 363"/>
          <p:cNvSpPr/>
          <p:nvPr/>
        </p:nvSpPr>
        <p:spPr>
          <a:xfrm>
            <a:off x="609480" y="314316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800280" y="323856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6" name="矩形 365" descr="{&quot;isTemplate&quot;:true,&quot;type&quot;:&quot;text&quot;}"/>
          <p:cNvSpPr/>
          <p:nvPr/>
        </p:nvSpPr>
        <p:spPr>
          <a:xfrm>
            <a:off x="1162080" y="332424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7" name="矩形 366" descr="{&quot;isTemplate&quot;:true,&quot;type&quot;:&quot;text&quot;}"/>
          <p:cNvSpPr/>
          <p:nvPr/>
        </p:nvSpPr>
        <p:spPr>
          <a:xfrm>
            <a:off x="2190600" y="3257640"/>
            <a:ext cx="8438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/ Adapter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：有接口系统直连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无接口老系统走人工执行留证（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Runbook 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截图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回填）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8" name="圆角矩形 367"/>
          <p:cNvSpPr/>
          <p:nvPr/>
        </p:nvSpPr>
        <p:spPr>
          <a:xfrm>
            <a:off x="609480" y="380988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9" name="圆角矩形 368"/>
          <p:cNvSpPr/>
          <p:nvPr/>
        </p:nvSpPr>
        <p:spPr>
          <a:xfrm>
            <a:off x="800280" y="390528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0" name="矩形 369" descr="{&quot;isTemplate&quot;:true,&quot;type&quot;:&quot;text&quot;}"/>
          <p:cNvSpPr/>
          <p:nvPr/>
        </p:nvSpPr>
        <p:spPr>
          <a:xfrm>
            <a:off x="1162080" y="399096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能力层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1" name="矩形 370" descr="{&quot;isTemplate&quot;:true,&quot;type&quot;:&quot;text&quot;}"/>
          <p:cNvSpPr/>
          <p:nvPr/>
        </p:nvSpPr>
        <p:spPr>
          <a:xfrm>
            <a:off x="2181240" y="3924360"/>
            <a:ext cx="92102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官方用云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（身份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通知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文件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搜索）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自定义服务台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（分类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处置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验证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回流）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2" name="圆角矩形 371"/>
          <p:cNvSpPr/>
          <p:nvPr/>
        </p:nvSpPr>
        <p:spPr>
          <a:xfrm>
            <a:off x="609480" y="447660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800280" y="457200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4" name="矩形 373" descr="{&quot;isTemplate&quot;:true,&quot;type&quot;:&quot;text&quot;}"/>
          <p:cNvSpPr/>
          <p:nvPr/>
        </p:nvSpPr>
        <p:spPr>
          <a:xfrm>
            <a:off x="1162080" y="465768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5" name="矩形 374" descr="{&quot;isTemplate&quot;:true,&quot;type&quot;:&quot;text&quot;}"/>
          <p:cNvSpPr/>
          <p:nvPr/>
        </p:nvSpPr>
        <p:spPr>
          <a:xfrm>
            <a:off x="2190600" y="4591080"/>
            <a:ext cx="56192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专家经验库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RocketMQ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异步状态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PolarDB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向量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审计存储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6" name="圆角矩形 375"/>
          <p:cNvSpPr/>
          <p:nvPr/>
        </p:nvSpPr>
        <p:spPr>
          <a:xfrm>
            <a:off x="609480" y="5143680"/>
            <a:ext cx="358092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77" name="图片 37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60" y="5267160"/>
            <a:ext cx="190080" cy="190080"/>
          </a:xfrm>
          <a:prstGeom prst="rect">
            <a:avLst/>
          </a:prstGeom>
          <a:noFill/>
        </p:spPr>
      </p:pic>
      <p:sp>
        <p:nvSpPr>
          <p:cNvPr id="378" name="矩形 377" descr="{&quot;isTemplate&quot;:true,&quot;type&quot;:&quot;text&quot;}"/>
          <p:cNvSpPr/>
          <p:nvPr/>
        </p:nvSpPr>
        <p:spPr>
          <a:xfrm>
            <a:off x="990720" y="5257800"/>
            <a:ext cx="856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端到端闭环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9" name="矩形 378" descr="{&quot;isTemplate&quot;:true,&quot;type&quot;:&quot;text&quot;}"/>
          <p:cNvSpPr/>
          <p:nvPr/>
        </p:nvSpPr>
        <p:spPr>
          <a:xfrm>
            <a:off x="72396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入口 → 分诊 → 知识检索 → 风险分级 → 执行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 → 验证 → 经验回流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0" name="圆角矩形 379"/>
          <p:cNvSpPr/>
          <p:nvPr/>
        </p:nvSpPr>
        <p:spPr>
          <a:xfrm>
            <a:off x="4305240" y="5143680"/>
            <a:ext cx="358092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81" name="图片 380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9720" y="5267160"/>
            <a:ext cx="190080" cy="190080"/>
          </a:xfrm>
          <a:prstGeom prst="rect">
            <a:avLst/>
          </a:prstGeom>
          <a:noFill/>
        </p:spPr>
      </p:pic>
      <p:sp>
        <p:nvSpPr>
          <p:cNvPr id="382" name="矩形 381" descr="{&quot;isTemplate&quot;:true,&quot;type&quot;:&quot;text&quot;}"/>
          <p:cNvSpPr/>
          <p:nvPr/>
        </p:nvSpPr>
        <p:spPr>
          <a:xfrm>
            <a:off x="4686480" y="525780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异常分支处理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3" name="矩形 382" descr="{&quot;isTemplate&quot;:true,&quot;type&quot;:&quot;text&quot;}"/>
          <p:cNvSpPr/>
          <p:nvPr/>
        </p:nvSpPr>
        <p:spPr>
          <a:xfrm>
            <a:off x="441972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信息不足补件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老系统切人工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工具异常切备用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失败回滚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升级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高风险必审批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8001000" y="5143680"/>
            <a:ext cx="3580920" cy="1047240"/>
          </a:xfrm>
          <a:prstGeom prst="roundRect">
            <a:avLst>
              <a:gd name="adj" fmla="val 10909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85" name="图片 384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15480" y="5267160"/>
            <a:ext cx="190080" cy="190080"/>
          </a:xfrm>
          <a:prstGeom prst="rect">
            <a:avLst/>
          </a:prstGeom>
          <a:noFill/>
        </p:spPr>
      </p:pic>
      <p:sp>
        <p:nvSpPr>
          <p:cNvPr id="386" name="矩形 385" descr="{&quot;isTemplate&quot;:true,&quot;type&quot;:&quot;text&quot;}"/>
          <p:cNvSpPr/>
          <p:nvPr/>
        </p:nvSpPr>
        <p:spPr>
          <a:xfrm>
            <a:off x="8381880" y="525780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安全与可审计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7" name="矩形 386" descr="{&quot;isTemplate&quot;:true,&quot;type&quot;:&quot;text&quot;}"/>
          <p:cNvSpPr/>
          <p:nvPr/>
        </p:nvSpPr>
        <p:spPr>
          <a:xfrm>
            <a:off x="811548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L0-L3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动作分级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全链路证据留痕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可回放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脱敏归档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审计接口开放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8" name="矩形 387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9" name="矩形 388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矩形 39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2" name="任意多边形 391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3" name="任意多边形 392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4" name="圆角矩形 393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95" name="图片 39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396" name="矩形 395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7" name="矩形 396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协同设计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8" name="矩形 397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9" name="矩形 398" descr="{&quot;isTemplate&quot;:true,&quot;type&quot;:&quot;text&quot;}"/>
          <p:cNvSpPr/>
          <p:nvPr/>
        </p:nvSpPr>
        <p:spPr>
          <a:xfrm>
            <a:off x="2695680" y="3371760"/>
            <a:ext cx="31237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协同与自主闭环能力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0" name="圆角矩形 399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01" name="矩形 400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分工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任务拆解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上下文传递与状态流转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异常与冲突处理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2" name="矩形 401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08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3" name=""/>
        <p:cNvGrpSpPr/>
        <p:nvPr/>
      </p:nvGrpSpPr>
      <p:grpSpPr>
        <a:xfrm rot="0">
          <a:off x="-9223372036854775808" y="-9223372036854775808"/>
          <a:ext cx="0" cy="0"/>
          <a:chOff x="0" y="0"/>
          <a:chExt cx="12191760" cy="6857640"/>
        </a:xfrm>
      </p:grpSpPr>
      <p:sp>
        <p:nvSpPr>
          <p:cNvPr id="404" name="矩形 40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05" name="圆角矩形 404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406" name="图片 405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407" name="矩形 406" descr="{&quot;isTemplate&quot;:true,&quot;type&quot;:&quot;text&quot;}"/>
          <p:cNvSpPr/>
          <p:nvPr/>
        </p:nvSpPr>
        <p:spPr>
          <a:xfrm>
            <a:off x="1238400" y="343080"/>
            <a:ext cx="47527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角色端到端闭环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8" name="矩形 407" descr="{&quot;isTemplate&quot;:true,&quot;type&quot;:&quot;text&quot;}"/>
          <p:cNvSpPr/>
          <p:nvPr/>
        </p:nvSpPr>
        <p:spPr>
          <a:xfrm>
            <a:off x="1238400" y="809640"/>
            <a:ext cx="47527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协同设计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9" name="矩形 408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09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1" name="矩形 410" descr="{&quot;isTemplate&quot;:true,&quot;type&quot;:&quot;text&quot;}"/>
          <p:cNvSpPr/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2" name="矩形 411" descr="{&quot;isTemplate&quot;:true,&quot;type&quot;:&quot;text&quot;}"/>
          <p:cNvSpPr/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个不同职能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，满足赛题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至少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个不同职能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要求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3" name="圆角矩形 412"/>
          <p:cNvSpPr/>
          <p:nvPr/>
        </p:nvSpPr>
        <p:spPr>
          <a:xfrm>
            <a:off x="7991640" y="236232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4" name="矩形 413" descr="{&quot;isTemplate&quot;:true,&quot;type&quot;:&quot;text&quot;}"/>
          <p:cNvSpPr/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上下文传递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5" name="矩形 414" descr="{&quot;isTemplate&quot;:true,&quot;type&quot;:&quot;text&quot;}"/>
          <p:cNvSpPr/>
          <p:nvPr/>
        </p:nvSpPr>
        <p:spPr>
          <a:xfrm>
            <a:off x="8124840" y="27622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工单状态、证据引用、用户环境、历史记录统一共享，避免各自为战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6" name="圆角矩形 415"/>
          <p:cNvSpPr/>
          <p:nvPr/>
        </p:nvSpPr>
        <p:spPr>
          <a:xfrm>
            <a:off x="7991640" y="3581280"/>
            <a:ext cx="3590640" cy="1104480"/>
          </a:xfrm>
          <a:prstGeom prst="roundRect">
            <a:avLst>
              <a:gd name="adj" fmla="val 10345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7" name="矩形 416" descr="{&quot;isTemplate&quot;:true,&quot;type&quot;:&quot;text&quot;}"/>
          <p:cNvSpPr/>
          <p:nvPr/>
        </p:nvSpPr>
        <p:spPr>
          <a:xfrm>
            <a:off x="8124840" y="37148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安全边界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8" name="矩形 417" descr="{&quot;isTemplate&quot;:true,&quot;type&quot;:&quot;text&quot;}"/>
          <p:cNvSpPr/>
          <p:nvPr/>
        </p:nvSpPr>
        <p:spPr>
          <a:xfrm>
            <a:off x="8124840" y="398160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L0/L1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自动（可回放）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L2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L3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用户可随时中断转人工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9" name="圆角矩形 418"/>
          <p:cNvSpPr/>
          <p:nvPr/>
        </p:nvSpPr>
        <p:spPr>
          <a:xfrm>
            <a:off x="7991640" y="48006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20" name="矩形 419" descr="{&quot;isTemplate&quot;:true,&quot;type&quot;:&quot;text&quot;}"/>
          <p:cNvSpPr/>
          <p:nvPr/>
        </p:nvSpPr>
        <p:spPr>
          <a:xfrm>
            <a:off x="8124840" y="49338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7x24 </a:t>
            </a: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价值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1" name="矩形 420" descr="{&quot;isTemplate&quot;:true,&quot;type&quot;:&quot;text&quot;}"/>
          <p:cNvSpPr/>
          <p:nvPr/>
        </p:nvSpPr>
        <p:spPr>
          <a:xfrm>
            <a:off x="8124840" y="52005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夜间自动接管常见账户异常，从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等人醒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秒级响应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2" name="矩形 421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3" name="矩形 422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09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4" name="矩形 423"/>
          <p:cNvSpPr/>
          <p:nvPr/>
        </p:nvSpPr>
        <p:spPr>
          <a:xfrm>
            <a:off x="609600" y="1143000"/>
            <a:ext cx="71882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r>
              <a:rPr 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TeamLeader 总控 · 任务拆解与编排</a:t>
            </a:r>
            <a:endParaRPr 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接收工单 → 拆解任务 → 分派职能 Agent → 汇总结果 → 升级决策</a:t>
            </a:r>
            <a:endParaRPr 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矩形 424"/>
          <p:cNvSpPr/>
          <p:nvPr/>
        </p:nvSpPr>
        <p:spPr>
          <a:xfrm>
            <a:off x="609600" y="2286000"/>
            <a:ext cx="2260600" cy="939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Ticket Intake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消息标准化 · 去重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6" name="矩形 425"/>
          <p:cNvSpPr/>
          <p:nvPr/>
        </p:nvSpPr>
        <p:spPr>
          <a:xfrm>
            <a:off x="3022600" y="2286000"/>
            <a:ext cx="2260600" cy="939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Knowledge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检索 Runbook / RAG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矩形 426"/>
          <p:cNvSpPr/>
          <p:nvPr/>
        </p:nvSpPr>
        <p:spPr>
          <a:xfrm>
            <a:off x="5435600" y="2286000"/>
            <a:ext cx="2260600" cy="93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Triage Analyst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风险分级 L0-L3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矩形 427"/>
          <p:cNvSpPr/>
          <p:nvPr/>
        </p:nvSpPr>
        <p:spPr>
          <a:xfrm>
            <a:off x="609600" y="4546600"/>
            <a:ext cx="7188200" cy="711200"/>
          </a:xfrm>
          <a:prstGeom prst="rect">
            <a:avLst/>
          </a:prstGeom>
          <a:solidFill>
            <a:srgbClr val="FFF7E6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r>
              <a:rPr lang="zh-CN" sz="16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结果回收：各 Agent 执行结果回传 TeamLeader</a:t>
            </a:r>
            <a:endParaRPr lang="zh-CN" sz="160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6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统一状态流转 · 决定升级 · 经验回流 RAG</a:t>
            </a:r>
            <a:endParaRPr lang="zh-CN" sz="160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矩形 428"/>
          <p:cNvSpPr/>
          <p:nvPr/>
        </p:nvSpPr>
        <p:spPr>
          <a:xfrm>
            <a:off x="609600" y="5410200"/>
            <a:ext cx="7188200" cy="7112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p>
            <a:r>
              <a:rPr lang="zh-CN" sz="16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上下文共享：工单状态 · 证据引用 · 用户环境</a:t>
            </a:r>
            <a:endParaRPr lang="zh-CN" sz="16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6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异常分支：补件 / Legacy 人工 / 工具切换 / 回滚升级</a:t>
            </a:r>
            <a:endParaRPr lang="zh-CN" sz="16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矩形 429"/>
          <p:cNvSpPr/>
          <p:nvPr/>
        </p:nvSpPr>
        <p:spPr>
          <a:xfrm>
            <a:off x="1803400" y="3403600"/>
            <a:ext cx="2260600" cy="939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Resolution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 / 审批 / 人工指引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矩形 430"/>
          <p:cNvSpPr/>
          <p:nvPr/>
        </p:nvSpPr>
        <p:spPr>
          <a:xfrm>
            <a:off x="4229100" y="3403600"/>
            <a:ext cx="2260600" cy="93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⑤ Verify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恢复验证 · 复盘回流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直接连接符 431"/>
          <p:cNvSpPr/>
          <p:nvPr/>
        </p:nvSpPr>
        <p:spPr>
          <a:xfrm>
            <a:off x="1739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3" name="直接连接符 432"/>
          <p:cNvSpPr/>
          <p:nvPr/>
        </p:nvSpPr>
        <p:spPr>
          <a:xfrm>
            <a:off x="4152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4" name="直接连接符 433"/>
          <p:cNvSpPr/>
          <p:nvPr/>
        </p:nvSpPr>
        <p:spPr>
          <a:xfrm>
            <a:off x="6565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5" name="直接连接符 434"/>
          <p:cNvSpPr/>
          <p:nvPr/>
        </p:nvSpPr>
        <p:spPr>
          <a:xfrm>
            <a:off x="2946400" y="2057400"/>
            <a:ext cx="0" cy="13208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6" name="直接连接符 435"/>
          <p:cNvSpPr/>
          <p:nvPr/>
        </p:nvSpPr>
        <p:spPr>
          <a:xfrm>
            <a:off x="5359400" y="2057400"/>
            <a:ext cx="0" cy="13208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" name="图片 22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24" name="矩形 23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第四章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" name="矩形 24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" name="矩形 25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" name="矩形 26" descr="{&quot;isTemplate&quot;:true,&quot;type&quot;:&quot;text&quot;}"/>
          <p:cNvSpPr/>
          <p:nvPr/>
        </p:nvSpPr>
        <p:spPr>
          <a:xfrm>
            <a:off x="2695680" y="3371760"/>
            <a:ext cx="2609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工程体系与生态复用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" name="矩形 28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清单与任务覆盖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单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规格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复用性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生命周期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官方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" name="矩形 29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10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4" name="图片 3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35" name="矩形 34" descr="{&quot;isTemplate&quot;:true,&quot;type&quot;:&quot;text&quot;}"/>
          <p:cNvSpPr/>
          <p:nvPr/>
        </p:nvSpPr>
        <p:spPr>
          <a:xfrm>
            <a:off x="1238400" y="343080"/>
            <a:ext cx="476208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资产包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" name="矩形 35" descr="{&quot;isTemplate&quot;:true,&quot;type&quot;:&quot;text&quot;}"/>
          <p:cNvSpPr/>
          <p:nvPr/>
        </p:nvSpPr>
        <p:spPr>
          <a:xfrm>
            <a:off x="1238400" y="80964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第四章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Skill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工程体系（本赛题必选项）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" name="矩形 36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11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09480" y="1143000"/>
            <a:ext cx="7191000" cy="5181120"/>
          </a:xfrm>
          <a:prstGeom prst="roundRect">
            <a:avLst>
              <a:gd name="adj" fmla="val 2206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9" name="图片 3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219320"/>
            <a:ext cx="7038720" cy="5028840"/>
          </a:xfrm>
          <a:prstGeom prst="rect">
            <a:avLst/>
          </a:prstGeom>
          <a:noFill/>
        </p:spPr>
      </p:pic>
      <p:sp>
        <p:nvSpPr>
          <p:cNvPr id="40" name="圆角矩形 39"/>
          <p:cNvSpPr/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" name="矩形 40" descr="{&quot;isTemplate&quot;:true,&quot;type&quot;:&quot;text&quot;}"/>
          <p:cNvSpPr/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个跨场景通用 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" name="矩形 41" descr="{&quot;isTemplate&quot;:true,&quot;type&quot;:&quot;text&quot;}"/>
          <p:cNvSpPr/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入口标准化、知识检索、分级处置、审批、升级、复盘、知识回流、观测——不绑定账户场景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7991640" y="2362320"/>
            <a:ext cx="3590640" cy="139032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4" name="矩形 43" descr="{&quot;isTemplate&quot;:true,&quot;type&quot;:&quot;text&quot;}"/>
          <p:cNvSpPr/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标准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契约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" name="矩形 44" descr="{&quot;isTemplate&quot;:true,&quot;type&quot;:&quot;text&quot;}"/>
          <p:cNvSpPr/>
          <p:nvPr/>
        </p:nvSpPr>
        <p:spPr>
          <a:xfrm>
            <a:off x="8124840" y="2762280"/>
            <a:ext cx="3323880" cy="856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名称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类型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输入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输出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调用条件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依赖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失败处理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权限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复用——按赛题附录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B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完整定义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7991640" y="3867120"/>
            <a:ext cx="3590640" cy="1104480"/>
          </a:xfrm>
          <a:prstGeom prst="roundRect">
            <a:avLst>
              <a:gd name="adj" fmla="val 10345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7" name="矩形 46" descr="{&quot;isTemplate&quot;:true,&quot;type&quot;:&quot;text&quot;}"/>
          <p:cNvSpPr/>
          <p:nvPr/>
        </p:nvSpPr>
        <p:spPr>
          <a:xfrm>
            <a:off x="8124840" y="400068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工程化与生命周期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" name="矩形 47" descr="{&quot;isTemplate&quot;:true,&quot;type&quot;:&quot;text&quot;}"/>
          <p:cNvSpPr/>
          <p:nvPr/>
        </p:nvSpPr>
        <p:spPr>
          <a:xfrm>
            <a:off x="8124840" y="42670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无状态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可替换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可审计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可版本化；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Nacos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注册管理；复用官方用云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7991640" y="508644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0" name="矩形 49" descr="{&quot;isTemplate&quot;:true,&quot;type&quot;:&quot;text&quot;}"/>
          <p:cNvSpPr/>
          <p:nvPr/>
        </p:nvSpPr>
        <p:spPr>
          <a:xfrm>
            <a:off x="8124840" y="52196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与多</a:t>
            </a:r>
            <a:r>
              <a:rPr lang="en-US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1" name="矩形 50" descr="{&quot;isTemplate&quot;:true,&quot;type&quot;:&quot;text&quot;}"/>
          <p:cNvSpPr/>
          <p:nvPr/>
        </p:nvSpPr>
        <p:spPr>
          <a:xfrm>
            <a:off x="8124840" y="548640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不裸调工具——一切通过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+ MCP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形成可治理调用链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2" name="矩形 51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" name="矩形 52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11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7" name="任意多边形 56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59" name="图片 58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60" name="矩形 59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第五章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1" name="矩形 60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工程落地、运行验证与安全可审计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2" name="矩形 61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3" name="矩形 62" descr="{&quot;isTemplate&quot;:true,&quot;type&quot;:&quot;text&quot;}"/>
          <p:cNvSpPr/>
          <p:nvPr/>
        </p:nvSpPr>
        <p:spPr>
          <a:xfrm>
            <a:off x="2695680" y="3371760"/>
            <a:ext cx="3428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工程落地、运行验证与安全可审计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5" name="矩形 64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可运行性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运行证据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可观测与检索链路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安全治理机制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云产品选型边界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6" name="矩形 65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70" name="图片 6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71" name="矩形 70" descr="{&quot;isTemplate&quot;:true,&quot;type&quot;:&quot;text&quot;}"/>
          <p:cNvSpPr/>
          <p:nvPr/>
        </p:nvSpPr>
        <p:spPr>
          <a:xfrm>
            <a:off x="1238400" y="343080"/>
            <a:ext cx="58291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闭环、证据链与安全治理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2" name="矩形 71" descr="{&quot;isTemplate&quot;:true,&quot;type&quot;:&quot;text&quot;}"/>
          <p:cNvSpPr/>
          <p:nvPr/>
        </p:nvSpPr>
        <p:spPr>
          <a:xfrm>
            <a:off x="1238400" y="809640"/>
            <a:ext cx="58291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第五章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工程落地、运行验证与安全可审计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3" name="矩形 72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609480" y="11430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762120" y="12193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6" name="矩形 75" descr="{&quot;isTemplate&quot;:true,&quot;type&quot;:&quot;text&quot;}"/>
          <p:cNvSpPr/>
          <p:nvPr/>
        </p:nvSpPr>
        <p:spPr>
          <a:xfrm>
            <a:off x="905040" y="13143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7" name="矩形 76" descr="{&quot;isTemplate&quot;:true,&quot;type&quot;:&quot;text&quot;}"/>
          <p:cNvSpPr/>
          <p:nvPr/>
        </p:nvSpPr>
        <p:spPr>
          <a:xfrm>
            <a:off x="1276200" y="13050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8" name="矩形 77" descr="{&quot;isTemplate&quot;:true,&quot;type&quot;:&quot;text&quot;}"/>
          <p:cNvSpPr/>
          <p:nvPr/>
        </p:nvSpPr>
        <p:spPr>
          <a:xfrm>
            <a:off x="2438280" y="1305000"/>
            <a:ext cx="1514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样例输入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事件触发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609480" y="17715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762120" y="18478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1" name="矩形 80" descr="{&quot;isTemplate&quot;:true,&quot;type&quot;:&quot;text&quot;}"/>
          <p:cNvSpPr/>
          <p:nvPr/>
        </p:nvSpPr>
        <p:spPr>
          <a:xfrm>
            <a:off x="905040" y="19432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2" name="矩形 81" descr="{&quot;isTemplate&quot;:true,&quot;type&quot;:&quot;text&quot;}"/>
          <p:cNvSpPr/>
          <p:nvPr/>
        </p:nvSpPr>
        <p:spPr>
          <a:xfrm>
            <a:off x="1276200" y="19335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分诊分类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3" name="矩形 82" descr="{&quot;isTemplate&quot;:true,&quot;type&quot;:&quot;text&quot;}"/>
          <p:cNvSpPr/>
          <p:nvPr/>
        </p:nvSpPr>
        <p:spPr>
          <a:xfrm>
            <a:off x="2438280" y="1933560"/>
            <a:ext cx="185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事件标准化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紧急度判断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609480" y="240048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762120" y="247644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6" name="矩形 85" descr="{&quot;isTemplate&quot;:true,&quot;type&quot;:&quot;text&quot;}"/>
          <p:cNvSpPr/>
          <p:nvPr/>
        </p:nvSpPr>
        <p:spPr>
          <a:xfrm>
            <a:off x="905040" y="257184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7" name="矩形 86" descr="{&quot;isTemplate&quot;:true,&quot;type&quot;:&quot;text&quot;}"/>
          <p:cNvSpPr/>
          <p:nvPr/>
        </p:nvSpPr>
        <p:spPr>
          <a:xfrm>
            <a:off x="1276200" y="256212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8" name="矩形 87" descr="{&quot;isTemplate&quot;:true,&quot;type&quot;:&quot;text&quot;}"/>
          <p:cNvSpPr/>
          <p:nvPr/>
        </p:nvSpPr>
        <p:spPr>
          <a:xfrm>
            <a:off x="2438280" y="2562120"/>
            <a:ext cx="1971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知识命中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Runbook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609480" y="302904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762120" y="310500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1" name="矩形 90" descr="{&quot;isTemplate&quot;:true,&quot;type&quot;:&quot;text&quot;}"/>
          <p:cNvSpPr/>
          <p:nvPr/>
        </p:nvSpPr>
        <p:spPr>
          <a:xfrm>
            <a:off x="905040" y="320040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2" name="矩形 91" descr="{&quot;isTemplate&quot;:true,&quot;type&quot;:&quot;text&quot;}"/>
          <p:cNvSpPr/>
          <p:nvPr/>
        </p:nvSpPr>
        <p:spPr>
          <a:xfrm>
            <a:off x="1276200" y="319104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处置执行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3" name="矩形 92" descr="{&quot;isTemplate&quot;:true,&quot;type&quot;:&quot;text&quot;}"/>
          <p:cNvSpPr/>
          <p:nvPr/>
        </p:nvSpPr>
        <p:spPr>
          <a:xfrm>
            <a:off x="2438280" y="3191040"/>
            <a:ext cx="2066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自动执行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人工指引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609480" y="36576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762120" y="37339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6" name="矩形 95" descr="{&quot;isTemplate&quot;:true,&quot;type&quot;:&quot;text&quot;}"/>
          <p:cNvSpPr/>
          <p:nvPr/>
        </p:nvSpPr>
        <p:spPr>
          <a:xfrm>
            <a:off x="905040" y="38289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7" name="矩形 96" descr="{&quot;isTemplate&quot;:true,&quot;type&quot;:&quot;text&quot;}"/>
          <p:cNvSpPr/>
          <p:nvPr/>
        </p:nvSpPr>
        <p:spPr>
          <a:xfrm>
            <a:off x="1276200" y="38196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验证恢复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8" name="矩形 97" descr="{&quot;isTemplate&quot;:true,&quot;type&quot;:&quot;text&quot;}"/>
          <p:cNvSpPr/>
          <p:nvPr/>
        </p:nvSpPr>
        <p:spPr>
          <a:xfrm>
            <a:off x="2438280" y="3819600"/>
            <a:ext cx="169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Verify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结果确认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609480" y="42861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762120" y="43624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1" name="矩形 100" descr="{&quot;isTemplate&quot;:true,&quot;type&quot;:&quot;text&quot;}"/>
          <p:cNvSpPr/>
          <p:nvPr/>
        </p:nvSpPr>
        <p:spPr>
          <a:xfrm>
            <a:off x="905040" y="44578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2" name="矩形 101" descr="{&quot;isTemplate&quot;:true,&quot;type&quot;:&quot;text&quot;}"/>
          <p:cNvSpPr/>
          <p:nvPr/>
        </p:nvSpPr>
        <p:spPr>
          <a:xfrm>
            <a:off x="1276200" y="44481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经验回流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3" name="矩形 102" descr="{&quot;isTemplate&quot;:true,&quot;type&quot;:&quot;text&quot;}"/>
          <p:cNvSpPr/>
          <p:nvPr/>
        </p:nvSpPr>
        <p:spPr>
          <a:xfrm>
            <a:off x="2438280" y="4448160"/>
            <a:ext cx="199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· Badcase 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知识更新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609480" y="49338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5" name="矩形 104" descr="{&quot;isTemplate&quot;:true,&quot;type&quot;:&quot;text&quot;}"/>
          <p:cNvSpPr/>
          <p:nvPr/>
        </p:nvSpPr>
        <p:spPr>
          <a:xfrm>
            <a:off x="762120" y="50292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全链路证据沉淀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6" name="矩形 105" descr="{&quot;isTemplate&quot;:true,&quot;type&quot;:&quot;text&quot;}"/>
          <p:cNvSpPr/>
          <p:nvPr/>
        </p:nvSpPr>
        <p:spPr>
          <a:xfrm>
            <a:off x="762120" y="52671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Incident State · Agent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调用链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Tool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输入输出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LLM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决策摘要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RAG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检索结果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验证结论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证据引用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09480" y="57150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8" name="矩形 107" descr="{&quot;isTemplate&quot;:true,&quot;type&quot;:&quot;text&quot;}"/>
          <p:cNvSpPr/>
          <p:nvPr/>
        </p:nvSpPr>
        <p:spPr>
          <a:xfrm>
            <a:off x="762120" y="58104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可观测：</a:t>
            </a:r>
            <a:r>
              <a:rPr lang="en-US" sz="128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AgentLoop / LoongSuite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9" name="矩形 108" descr="{&quot;isTemplate&quot;:true,&quot;type&quot;:&quot;text&quot;}"/>
          <p:cNvSpPr/>
          <p:nvPr/>
        </p:nvSpPr>
        <p:spPr>
          <a:xfrm>
            <a:off x="762120" y="60483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Trace · Log · Metrics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：时延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Token 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成功率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首次解决率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升级率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Badcase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7991640" y="1143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1" name="矩形 110" descr="{&quot;isTemplate&quot;:true,&quot;type&quot;:&quot;text&quot;}"/>
          <p:cNvSpPr/>
          <p:nvPr/>
        </p:nvSpPr>
        <p:spPr>
          <a:xfrm>
            <a:off x="8105760" y="1257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可运行性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2" name="矩形 111" descr="{&quot;isTemplate&quot;:true,&quot;type&quot;:&quot;text&quot;}"/>
          <p:cNvSpPr/>
          <p:nvPr/>
        </p:nvSpPr>
        <p:spPr>
          <a:xfrm>
            <a:off x="8105760" y="1523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工单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审批流可演示闭环；复赛接真实系统保持同一套契约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7991640" y="2286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4" name="矩形 113" descr="{&quot;isTemplate&quot;:true,&quot;type&quot;:&quot;text&quot;}"/>
          <p:cNvSpPr/>
          <p:nvPr/>
        </p:nvSpPr>
        <p:spPr>
          <a:xfrm>
            <a:off x="8105760" y="2400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安全治理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L0-L3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5" name="矩形 114" descr="{&quot;isTemplate&quot;:true,&quot;type&quot;:&quot;text&quot;}"/>
          <p:cNvSpPr/>
          <p:nvPr/>
        </p:nvSpPr>
        <p:spPr>
          <a:xfrm>
            <a:off x="8105760" y="2666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L0/L1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自动执行（可回放）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L2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审批单（执行人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原因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回滚点）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L3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人工闭环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7991640" y="3429000"/>
            <a:ext cx="3590640" cy="1047240"/>
          </a:xfrm>
          <a:prstGeom prst="roundRect">
            <a:avLst>
              <a:gd name="adj" fmla="val 9091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7" name="矩形 116" descr="{&quot;isTemplate&quot;:true,&quot;type&quot;:&quot;text&quot;}"/>
          <p:cNvSpPr/>
          <p:nvPr/>
        </p:nvSpPr>
        <p:spPr>
          <a:xfrm>
            <a:off x="8105760" y="3543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运行证据与审计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8" name="矩形 117" descr="{&quot;isTemplate&quot;:true,&quot;type&quot;:&quot;text&quot;}"/>
          <p:cNvSpPr/>
          <p:nvPr/>
        </p:nvSpPr>
        <p:spPr>
          <a:xfrm>
            <a:off x="8105760" y="3809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输出附带证据引用；支持按工单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/Agent/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时间回放；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Badcase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回流数据集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7991640" y="4572000"/>
            <a:ext cx="3590640" cy="1323720"/>
          </a:xfrm>
          <a:prstGeom prst="roundRect">
            <a:avLst>
              <a:gd name="adj" fmla="val 719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0" name="矩形 119" descr="{&quot;isTemplate&quot;:true,&quot;type&quot;:&quot;text&quot;}"/>
          <p:cNvSpPr/>
          <p:nvPr/>
        </p:nvSpPr>
        <p:spPr>
          <a:xfrm>
            <a:off x="8105760" y="4686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云产品选型与边界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1" name="矩形 120" descr="{&quot;isTemplate&quot;:true,&quot;type&quot;:&quot;text&quot;}"/>
          <p:cNvSpPr/>
          <p:nvPr/>
        </p:nvSpPr>
        <p:spPr>
          <a:xfrm>
            <a:off x="8105760" y="4952880"/>
            <a:ext cx="336204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底座内建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外挂可选（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Nacos/PolarDB/RocketMQ/LoongSuite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），可替换性已说明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2" name="矩形 121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3" name="矩形 122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6" name="任意多边形 125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7" name="任意多边形 126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29" name="图片 128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130" name="矩形 129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第六章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1" name="矩形 130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开源计划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2" name="矩形 131" descr="{&quot;isTemplate&quot;:true,&quot;type&quot;:&quot;text&quot;}"/>
          <p:cNvSpPr/>
          <p:nvPr/>
        </p:nvSpPr>
        <p:spPr>
          <a:xfrm>
            <a:off x="762120" y="3371760"/>
            <a:ext cx="1304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3" name="矩形 132" descr="{&quot;isTemplate&quot;:true,&quot;type&quot;:&quot;text&quot;}"/>
          <p:cNvSpPr/>
          <p:nvPr/>
        </p:nvSpPr>
        <p:spPr>
          <a:xfrm>
            <a:off x="2181240" y="3371760"/>
            <a:ext cx="16189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开源贡献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5" name="矩形 134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可复用成果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接口契约与文档示例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开源协议与第三方依赖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6" name="矩形 135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14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13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40" name="图片 13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141" name="矩形 140" descr="{&quot;isTemplate&quot;:true,&quot;type&quot;:&quot;text&quot;}"/>
          <p:cNvSpPr/>
          <p:nvPr/>
        </p:nvSpPr>
        <p:spPr>
          <a:xfrm>
            <a:off x="1238400" y="343080"/>
            <a:ext cx="48002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开源：可复用的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资产包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2" name="矩形 141" descr="{&quot;isTemplate&quot;:true,&quot;type&quot;:&quot;text&quot;}"/>
          <p:cNvSpPr/>
          <p:nvPr/>
        </p:nvSpPr>
        <p:spPr>
          <a:xfrm>
            <a:off x="1238400" y="809640"/>
            <a:ext cx="48002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第六章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开源计划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3" name="矩形 142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4" name="矩形 143" descr="{&quot;isTemplate&quot;:true,&quot;type&quot;:&quot;text&quot;}"/>
          <p:cNvSpPr/>
          <p:nvPr/>
        </p:nvSpPr>
        <p:spPr>
          <a:xfrm>
            <a:off x="609480" y="2076480"/>
            <a:ext cx="4000320" cy="1885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5000"/>
              </a:lnSpc>
            </a:pPr>
            <a:r>
              <a:rPr lang="zh-CN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让每个团队都能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25000"/>
              </a:lnSpc>
            </a:pPr>
            <a:r>
              <a:rPr lang="zh-CN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搭起自己的服务台</a:t>
            </a:r>
            <a:r>
              <a:rPr lang="en-US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609480" y="4114800"/>
            <a:ext cx="761760" cy="37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B82F6"/>
              </a:gs>
              <a:gs pos="100000">
                <a:srgbClr val="06B6D4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6" name="矩形 145" descr="{&quot;isTemplate&quot;:true,&quot;type&quot;:&quot;text&quot;}"/>
          <p:cNvSpPr/>
          <p:nvPr/>
        </p:nvSpPr>
        <p:spPr>
          <a:xfrm>
            <a:off x="609480" y="4305240"/>
            <a:ext cx="4000320" cy="104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60000"/>
              </a:lnSpc>
            </a:pP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开源可复用、可验证、可演进的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资产包，降低后续团队门槛，形成服务台 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的参考实现与最佳实践。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4915080" y="114300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5067360" y="129528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49" name="图片 14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1480" y="1409760"/>
            <a:ext cx="228240" cy="228240"/>
          </a:xfrm>
          <a:prstGeom prst="rect">
            <a:avLst/>
          </a:prstGeom>
          <a:noFill/>
        </p:spPr>
      </p:pic>
      <p:sp>
        <p:nvSpPr>
          <p:cNvPr id="150" name="矩形 149" descr="{&quot;isTemplate&quot;:true,&quot;type&quot;:&quot;text&quot;}"/>
          <p:cNvSpPr/>
          <p:nvPr/>
        </p:nvSpPr>
        <p:spPr>
          <a:xfrm>
            <a:off x="5657760" y="129528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开源范围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1" name="矩形 150" descr="{&quot;isTemplate&quot;:true,&quot;type&quot;:&quot;text&quot;}"/>
          <p:cNvSpPr/>
          <p:nvPr/>
        </p:nvSpPr>
        <p:spPr>
          <a:xfrm>
            <a:off x="5657760" y="156204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个通用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场景示例）、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AgentSpec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工具、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Demo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运行脚本、接口契约、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Schema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、样例数据、运行录像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4915080" y="241920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5067360" y="257184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06B6D4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54" name="图片 15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81480" y="2685960"/>
            <a:ext cx="228240" cy="228240"/>
          </a:xfrm>
          <a:prstGeom prst="rect">
            <a:avLst/>
          </a:prstGeom>
          <a:noFill/>
        </p:spPr>
      </p:pic>
      <p:sp>
        <p:nvSpPr>
          <p:cNvPr id="155" name="矩形 154" descr="{&quot;isTemplate&quot;:true,&quot;type&quot;:&quot;text&quot;}"/>
          <p:cNvSpPr/>
          <p:nvPr/>
        </p:nvSpPr>
        <p:spPr>
          <a:xfrm>
            <a:off x="5657760" y="257184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复用方式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6" name="矩形 155" descr="{&quot;isTemplate&quot;:true,&quot;type&quot;:&quot;text&quot;}"/>
          <p:cNvSpPr/>
          <p:nvPr/>
        </p:nvSpPr>
        <p:spPr>
          <a:xfrm>
            <a:off x="5657760" y="283860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其他团队可直接复用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ImTicketNormalizer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RunbookRag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SafeResolver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Postmortem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等通用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无状态、可替换，换场景不换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4915080" y="369576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5067360" y="384804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59" name="图片 158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1480" y="3962520"/>
            <a:ext cx="228240" cy="228240"/>
          </a:xfrm>
          <a:prstGeom prst="rect">
            <a:avLst/>
          </a:prstGeom>
          <a:noFill/>
        </p:spPr>
      </p:pic>
      <p:sp>
        <p:nvSpPr>
          <p:cNvPr id="160" name="矩形 159" descr="{&quot;isTemplate&quot;:true,&quot;type&quot;:&quot;text&quot;}"/>
          <p:cNvSpPr/>
          <p:nvPr/>
        </p:nvSpPr>
        <p:spPr>
          <a:xfrm>
            <a:off x="5657760" y="384804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合规边界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1" name="矩形 160" descr="{&quot;isTemplate&quot;:true,&quot;type&quot;:&quot;text&quot;}"/>
          <p:cNvSpPr/>
          <p:nvPr/>
        </p:nvSpPr>
        <p:spPr>
          <a:xfrm>
            <a:off x="5657760" y="411480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拟采用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MIT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协议；完整披露第三方依赖、商业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）、闭源模型使用范围与迁移成本；数据全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自建，无授权风险；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Schema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预留脱敏字段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2" name="矩形 161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3" name="矩形 162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 16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6" name="任意多边形 165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7" name="任意多边形 166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69" name="图片 168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170" name="矩形 169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第七章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1" name="矩形 170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落地计划与进展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2" name="矩形 171" descr="{&quot;isTemplate&quot;:true,&quot;type&quot;:&quot;text&quot;}"/>
          <p:cNvSpPr/>
          <p:nvPr/>
        </p:nvSpPr>
        <p:spPr>
          <a:xfrm>
            <a:off x="762120" y="3371760"/>
            <a:ext cx="112356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3" name="矩形 172" descr="{&quot;isTemplate&quot;:true,&quot;type&quot;:&quot;text&quot;}"/>
          <p:cNvSpPr/>
          <p:nvPr/>
        </p:nvSpPr>
        <p:spPr>
          <a:xfrm>
            <a:off x="2000160" y="3371760"/>
            <a:ext cx="2285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当前进展与整体可行性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4" name="圆角矩形 173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5" name="矩形 174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里程碑与落地计划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风险控制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6" name="矩形 175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16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7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9" name="圆角矩形 178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80" name="图片 17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181" name="矩形 180" descr="{&quot;isTemplate&quot;:true,&quot;type&quot;:&quot;text&quot;}"/>
          <p:cNvSpPr/>
          <p:nvPr/>
        </p:nvSpPr>
        <p:spPr>
          <a:xfrm>
            <a:off x="1238400" y="343080"/>
            <a:ext cx="499068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现状与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V3/V4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路线图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2" name="矩形 181" descr="{&quot;isTemplate&quot;:true,&quot;type&quot;:&quot;text&quot;}"/>
          <p:cNvSpPr/>
          <p:nvPr/>
        </p:nvSpPr>
        <p:spPr>
          <a:xfrm>
            <a:off x="1238400" y="809640"/>
            <a:ext cx="49906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第七章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落地计划与进展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3" name="矩形 182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609480" y="1143000"/>
            <a:ext cx="7191000" cy="5181120"/>
          </a:xfrm>
          <a:prstGeom prst="roundRect">
            <a:avLst>
              <a:gd name="adj" fmla="val 2206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85" name="图片 184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219320"/>
            <a:ext cx="7038720" cy="5028840"/>
          </a:xfrm>
          <a:prstGeom prst="rect">
            <a:avLst/>
          </a:prstGeom>
          <a:noFill/>
        </p:spPr>
      </p:pic>
      <p:sp>
        <p:nvSpPr>
          <p:cNvPr id="186" name="圆角矩形 185"/>
          <p:cNvSpPr/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7" name="矩形 186" descr="{&quot;isTemplate&quot;:true,&quot;type&quot;:&quot;text&quot;}"/>
          <p:cNvSpPr/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当前进展（已完成）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8" name="矩形 187" descr="{&quot;isTemplate&quot;:true,&quot;type&quot;:&quot;text&quot;}"/>
          <p:cNvSpPr/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赛题格式完整版：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Identity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清单、逐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完整清单、合规披露、可复制性论证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7991640" y="236232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0" name="矩形 189" descr="{&quot;isTemplate&quot;:true,&quot;type&quot;:&quot;text&quot;}"/>
          <p:cNvSpPr/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近期里程碑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1" name="矩形 190" descr="{&quot;isTemplate&quot;:true,&quot;type&quot;:&quot;text&quot;}"/>
          <p:cNvSpPr/>
          <p:nvPr/>
        </p:nvSpPr>
        <p:spPr>
          <a:xfrm>
            <a:off x="8124840" y="27622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作品简介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500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字 → ②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Demo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最小闭环运行证据 → ③ 方案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PPT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定稿 → ④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8.16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7991640" y="3581280"/>
            <a:ext cx="3590640" cy="1676160"/>
          </a:xfrm>
          <a:prstGeom prst="roundRect">
            <a:avLst>
              <a:gd name="adj" fmla="val 6818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3" name="矩形 192" descr="{&quot;isTemplate&quot;:true,&quot;type&quot;:&quot;text&quot;}"/>
          <p:cNvSpPr/>
          <p:nvPr/>
        </p:nvSpPr>
        <p:spPr>
          <a:xfrm>
            <a:off x="8124840" y="37148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风险控制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4" name="矩形 193" descr="{&quot;isTemplate&quot;:true,&quot;type&quot;:&quot;text&quot;}"/>
          <p:cNvSpPr/>
          <p:nvPr/>
        </p:nvSpPr>
        <p:spPr>
          <a:xfrm>
            <a:off x="8124840" y="3981600"/>
            <a:ext cx="33238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无验证材料风险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8.16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前跑通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闭环留证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单场景扩展风险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通用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+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三阶段拓展路径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模型依赖风险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Higress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路由可换开源模型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7991640" y="537228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6" name="矩形 195" descr="{&quot;isTemplate&quot;:true,&quot;type&quot;:&quot;text&quot;}"/>
          <p:cNvSpPr/>
          <p:nvPr/>
        </p:nvSpPr>
        <p:spPr>
          <a:xfrm>
            <a:off x="8124840" y="550548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可复制性落地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7" name="矩形 196" descr="{&quot;isTemplate&quot;:true,&quot;type&quot;:&quot;text&quot;}"/>
          <p:cNvSpPr/>
          <p:nvPr/>
        </p:nvSpPr>
        <p:spPr>
          <a:xfrm>
            <a:off x="8124840" y="577224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三阶段：账户异常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→ 服务台全域 → 跨部门入口型场景；换场景只换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8" name="矩形 197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9" name="矩形 198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矩形 20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60000">
                <a:srgbClr val="3B82F6"/>
              </a:gs>
              <a:gs pos="100000">
                <a:srgbClr val="06B6D4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2" name="任意多边形 201"/>
          <p:cNvSpPr/>
          <p:nvPr/>
        </p:nvSpPr>
        <p:spPr>
          <a:xfrm>
            <a:off x="8381880" y="-1143000"/>
            <a:ext cx="4571640" cy="4571640"/>
          </a:xfrm>
          <a:custGeom>
            <a:avLst/>
            <a:gdLst/>
            <a:ahLst/>
            <a:cxnLst/>
            <a:rect l="l" t="t" r="r" b="b"/>
            <a:pathLst>
              <a:path w="480" h="480">
                <a:moveTo>
                  <a:pt x="400" y="419"/>
                </a:moveTo>
                <a:lnTo>
                  <a:pt x="397" y="421"/>
                </a:lnTo>
                <a:lnTo>
                  <a:pt x="393" y="425"/>
                </a:lnTo>
                <a:lnTo>
                  <a:pt x="388" y="429"/>
                </a:lnTo>
                <a:lnTo>
                  <a:pt x="384" y="432"/>
                </a:lnTo>
                <a:lnTo>
                  <a:pt x="379" y="436"/>
                </a:lnTo>
                <a:lnTo>
                  <a:pt x="374" y="439"/>
                </a:lnTo>
                <a:lnTo>
                  <a:pt x="369" y="442"/>
                </a:lnTo>
                <a:lnTo>
                  <a:pt x="364" y="445"/>
                </a:ln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400" y="12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3" name="任意多边形 202"/>
          <p:cNvSpPr/>
          <p:nvPr/>
        </p:nvSpPr>
        <p:spPr>
          <a:xfrm>
            <a:off x="-571680" y="4381560"/>
            <a:ext cx="4000320" cy="4000320"/>
          </a:xfrm>
          <a:custGeom>
            <a:avLst/>
            <a:gdLst/>
            <a:ahLst/>
            <a:cxnLst/>
            <a:rect l="l" t="t" r="r" b="b"/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4" y="260"/>
                </a:lnTo>
                <a:lnTo>
                  <a:pt x="60" y="260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4" name="任意多边形 203"/>
          <p:cNvSpPr/>
          <p:nvPr/>
        </p:nvSpPr>
        <p:spPr>
          <a:xfrm>
            <a:off x="1523880" y="1905120"/>
            <a:ext cx="95040" cy="950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5" name="任意多边形 204"/>
          <p:cNvSpPr/>
          <p:nvPr/>
        </p:nvSpPr>
        <p:spPr>
          <a:xfrm>
            <a:off x="10020240" y="4876920"/>
            <a:ext cx="75960" cy="7596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30960" rIns="90000" bIns="309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6" name="矩形 205" descr="{&quot;isTemplate&quot;:true,&quot;type&quot;:&quot;text&quot;}"/>
          <p:cNvSpPr/>
          <p:nvPr/>
        </p:nvSpPr>
        <p:spPr>
          <a:xfrm>
            <a:off x="3152880" y="2162160"/>
            <a:ext cx="58957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40000"/>
              </a:lnSpc>
            </a:pP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让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服务从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消耗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走向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资产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7" name="矩形 206" descr="{&quot;isTemplate&quot;:true,&quot;type&quot;:&quot;text&quot;}"/>
          <p:cNvSpPr/>
          <p:nvPr/>
        </p:nvSpPr>
        <p:spPr>
          <a:xfrm>
            <a:off x="2895480" y="3095640"/>
            <a:ext cx="64004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60000"/>
              </a:lnSpc>
            </a:pPr>
            <a:r>
              <a:rPr lang="zh-CN" sz="180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从个人经验救火，到可运营、可追溯、可演进的体系化服务能力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5619600" y="384804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9" name="矩形 208" descr="{&quot;isTemplate&quot;:true,&quot;type&quot;:&quot;text&quot;}"/>
          <p:cNvSpPr/>
          <p:nvPr/>
        </p:nvSpPr>
        <p:spPr>
          <a:xfrm>
            <a:off x="3200400" y="4191120"/>
            <a:ext cx="5790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世界人工智能开源大赛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Agent Infra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0" name="矩形 209" descr="{&quot;isTemplate&quot;:true,&quot;type&quot;:&quot;text&quot;}"/>
          <p:cNvSpPr/>
          <p:nvPr/>
        </p:nvSpPr>
        <p:spPr>
          <a:xfrm>
            <a:off x="3381480" y="4514760"/>
            <a:ext cx="5438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· Skill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工程化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MCP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统一接入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RAG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专家经验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全链路可审计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1" name="矩形 210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18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4923</Words>
  <Application>WPS 演示</Application>
  <PresentationFormat/>
  <Paragraphs>482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Symbol</vt:lpstr>
      <vt:lpstr>微软雅黑</vt:lpstr>
      <vt:lpstr>Arial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南向北</cp:lastModifiedBy>
  <cp:revision>1</cp:revision>
  <dcterms:created xsi:type="dcterms:W3CDTF">2026-08-12T12:01:50Z</dcterms:created>
  <dcterms:modified xsi:type="dcterms:W3CDTF">2026-08-12T12:01:58Z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2AADCC5192724A0FA8CF371B5E5DD29D_12</vt:lpwstr>
  </property>
  <property fmtid="{D5CDD505-2E9C-101B-9397-08002B2CF9AE}" pid="3" name="KSOProductBuildVer">
    <vt:lpwstr>2052-12.1.0.28043</vt:lpwstr>
  </property>
</Properties>
</file>